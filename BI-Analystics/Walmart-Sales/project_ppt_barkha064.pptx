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7" r:id="rId2"/>
    <p:sldId id="272" r:id="rId3"/>
    <p:sldId id="275" r:id="rId4"/>
    <p:sldId id="276" r:id="rId5"/>
    <p:sldId id="278" r:id="rId6"/>
    <p:sldId id="260" r:id="rId7"/>
    <p:sldId id="279" r:id="rId8"/>
    <p:sldId id="280" r:id="rId9"/>
    <p:sldId id="281" r:id="rId10"/>
    <p:sldId id="282" r:id="rId11"/>
    <p:sldId id="262" r:id="rId12"/>
    <p:sldId id="263" r:id="rId13"/>
    <p:sldId id="259" r:id="rId14"/>
    <p:sldId id="265" r:id="rId15"/>
    <p:sldId id="266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48" d="100"/>
          <a:sy n="48" d="100"/>
        </p:scale>
        <p:origin x="1288" y="4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98DF47-4C2A-426C-BB0E-67428942D805}" type="doc">
      <dgm:prSet loTypeId="urn:microsoft.com/office/officeart/2005/8/layout/hProcess9" loCatId="process" qsTypeId="urn:microsoft.com/office/officeart/2005/8/quickstyle/simple1" qsCatId="simple" csTypeId="urn:microsoft.com/office/officeart/2005/8/colors/colorful3" csCatId="colorful" phldr="1"/>
      <dgm:spPr/>
    </dgm:pt>
    <dgm:pt modelId="{9FB6104A-CD37-45C6-BBE9-11B02C93DED5}">
      <dgm:prSet phldrT="[Text]"/>
      <dgm:spPr/>
      <dgm:t>
        <a:bodyPr/>
        <a:lstStyle/>
        <a:p>
          <a:r>
            <a:rPr lang="en-US" dirty="0"/>
            <a:t>Data Cleaning &amp; Preprocessing</a:t>
          </a:r>
          <a:endParaRPr lang="en-IN" dirty="0"/>
        </a:p>
      </dgm:t>
    </dgm:pt>
    <dgm:pt modelId="{DCDDB4C0-38CB-452F-86D8-E639C7C3D20D}" type="parTrans" cxnId="{22C9E1A4-8416-43A1-B576-1F0A14479D7D}">
      <dgm:prSet/>
      <dgm:spPr/>
      <dgm:t>
        <a:bodyPr/>
        <a:lstStyle/>
        <a:p>
          <a:endParaRPr lang="en-IN"/>
        </a:p>
      </dgm:t>
    </dgm:pt>
    <dgm:pt modelId="{288D42AD-E025-49E7-950B-B989EE311544}" type="sibTrans" cxnId="{22C9E1A4-8416-43A1-B576-1F0A14479D7D}">
      <dgm:prSet/>
      <dgm:spPr/>
      <dgm:t>
        <a:bodyPr/>
        <a:lstStyle/>
        <a:p>
          <a:endParaRPr lang="en-IN"/>
        </a:p>
      </dgm:t>
    </dgm:pt>
    <dgm:pt modelId="{685C4434-E2AE-4EF1-A523-89413BBA0131}">
      <dgm:prSet phldrT="[Text]"/>
      <dgm:spPr/>
      <dgm:t>
        <a:bodyPr/>
        <a:lstStyle/>
        <a:p>
          <a:r>
            <a:rPr lang="en-US" dirty="0"/>
            <a:t>Feature Engineering</a:t>
          </a:r>
          <a:endParaRPr lang="en-IN" dirty="0"/>
        </a:p>
      </dgm:t>
    </dgm:pt>
    <dgm:pt modelId="{79A29A76-7BA6-4BEC-B66F-D479FFF8E6B1}" type="parTrans" cxnId="{82BA4D51-8914-4A6A-A76A-3F6582963886}">
      <dgm:prSet/>
      <dgm:spPr/>
      <dgm:t>
        <a:bodyPr/>
        <a:lstStyle/>
        <a:p>
          <a:endParaRPr lang="en-IN"/>
        </a:p>
      </dgm:t>
    </dgm:pt>
    <dgm:pt modelId="{733977B7-72CC-4030-B8F5-89B02C711137}" type="sibTrans" cxnId="{82BA4D51-8914-4A6A-A76A-3F6582963886}">
      <dgm:prSet/>
      <dgm:spPr/>
      <dgm:t>
        <a:bodyPr/>
        <a:lstStyle/>
        <a:p>
          <a:endParaRPr lang="en-IN"/>
        </a:p>
      </dgm:t>
    </dgm:pt>
    <dgm:pt modelId="{4D6B208E-1C5C-417F-8F89-D6C39F0DDEBB}">
      <dgm:prSet phldrT="[Text]"/>
      <dgm:spPr/>
      <dgm:t>
        <a:bodyPr/>
        <a:lstStyle/>
        <a:p>
          <a:r>
            <a:rPr lang="en-US" dirty="0"/>
            <a:t>Exploratory Data Analysis</a:t>
          </a:r>
          <a:endParaRPr lang="en-IN" dirty="0"/>
        </a:p>
      </dgm:t>
    </dgm:pt>
    <dgm:pt modelId="{68D09821-3AFD-40CF-AF80-311FAE274BEB}" type="parTrans" cxnId="{3BBDD14A-0231-42EC-B757-E28CAAB39B45}">
      <dgm:prSet/>
      <dgm:spPr/>
      <dgm:t>
        <a:bodyPr/>
        <a:lstStyle/>
        <a:p>
          <a:endParaRPr lang="en-IN"/>
        </a:p>
      </dgm:t>
    </dgm:pt>
    <dgm:pt modelId="{B9ADF761-410D-4AF8-A489-03F6DE4CBC14}" type="sibTrans" cxnId="{3BBDD14A-0231-42EC-B757-E28CAAB39B45}">
      <dgm:prSet/>
      <dgm:spPr/>
      <dgm:t>
        <a:bodyPr/>
        <a:lstStyle/>
        <a:p>
          <a:endParaRPr lang="en-IN"/>
        </a:p>
      </dgm:t>
    </dgm:pt>
    <dgm:pt modelId="{431352AB-5EC2-415C-9745-D0C3B8045137}">
      <dgm:prSet phldrT="[Text]"/>
      <dgm:spPr/>
      <dgm:t>
        <a:bodyPr/>
        <a:lstStyle/>
        <a:p>
          <a:r>
            <a:rPr lang="en-US" dirty="0"/>
            <a:t>Machine Learning Models</a:t>
          </a:r>
          <a:endParaRPr lang="en-IN" dirty="0"/>
        </a:p>
      </dgm:t>
    </dgm:pt>
    <dgm:pt modelId="{BD065731-2843-43A4-8B57-A66078B2574E}" type="parTrans" cxnId="{A6AF7F61-17A2-496F-B5BE-84705DF24B8E}">
      <dgm:prSet/>
      <dgm:spPr/>
      <dgm:t>
        <a:bodyPr/>
        <a:lstStyle/>
        <a:p>
          <a:endParaRPr lang="en-IN"/>
        </a:p>
      </dgm:t>
    </dgm:pt>
    <dgm:pt modelId="{CBE58F8A-52C4-4C73-8F55-E580FD264AF3}" type="sibTrans" cxnId="{A6AF7F61-17A2-496F-B5BE-84705DF24B8E}">
      <dgm:prSet/>
      <dgm:spPr/>
      <dgm:t>
        <a:bodyPr/>
        <a:lstStyle/>
        <a:p>
          <a:endParaRPr lang="en-IN"/>
        </a:p>
      </dgm:t>
    </dgm:pt>
    <dgm:pt modelId="{C5BF68D6-7AA7-487B-9EAC-0EEDA3E45182}">
      <dgm:prSet phldrT="[Text]"/>
      <dgm:spPr/>
      <dgm:t>
        <a:bodyPr/>
        <a:lstStyle/>
        <a:p>
          <a:r>
            <a:rPr lang="en-US" dirty="0"/>
            <a:t>Forecast Results</a:t>
          </a:r>
          <a:endParaRPr lang="en-IN" dirty="0"/>
        </a:p>
      </dgm:t>
    </dgm:pt>
    <dgm:pt modelId="{50A81FE4-ACDF-46FD-8C48-CA6F6810E94D}" type="parTrans" cxnId="{CB1FE7F7-6AB0-4905-89B8-18062E73211C}">
      <dgm:prSet/>
      <dgm:spPr/>
      <dgm:t>
        <a:bodyPr/>
        <a:lstStyle/>
        <a:p>
          <a:endParaRPr lang="en-IN"/>
        </a:p>
      </dgm:t>
    </dgm:pt>
    <dgm:pt modelId="{2EAB8C40-F20C-4581-9F96-9853AA324A53}" type="sibTrans" cxnId="{CB1FE7F7-6AB0-4905-89B8-18062E73211C}">
      <dgm:prSet/>
      <dgm:spPr/>
      <dgm:t>
        <a:bodyPr/>
        <a:lstStyle/>
        <a:p>
          <a:endParaRPr lang="en-IN"/>
        </a:p>
      </dgm:t>
    </dgm:pt>
    <dgm:pt modelId="{B7562FE8-99F9-43B1-AA24-5AC0BFD25763}">
      <dgm:prSet phldrT="[Text]"/>
      <dgm:spPr/>
      <dgm:t>
        <a:bodyPr/>
        <a:lstStyle/>
        <a:p>
          <a:r>
            <a:rPr lang="en-US" dirty="0"/>
            <a:t>Power BI Dashboard</a:t>
          </a:r>
          <a:endParaRPr lang="en-IN" dirty="0"/>
        </a:p>
      </dgm:t>
    </dgm:pt>
    <dgm:pt modelId="{DF59F4DD-5048-4A38-B1B8-DE569E16F42F}" type="parTrans" cxnId="{B649BC15-25E3-4531-9DCD-6ACB0F7DDF67}">
      <dgm:prSet/>
      <dgm:spPr/>
      <dgm:t>
        <a:bodyPr/>
        <a:lstStyle/>
        <a:p>
          <a:endParaRPr lang="en-IN"/>
        </a:p>
      </dgm:t>
    </dgm:pt>
    <dgm:pt modelId="{CF783171-D79A-42E5-97B5-518AAA61DF6F}" type="sibTrans" cxnId="{B649BC15-25E3-4531-9DCD-6ACB0F7DDF67}">
      <dgm:prSet/>
      <dgm:spPr/>
      <dgm:t>
        <a:bodyPr/>
        <a:lstStyle/>
        <a:p>
          <a:endParaRPr lang="en-IN"/>
        </a:p>
      </dgm:t>
    </dgm:pt>
    <dgm:pt modelId="{0097AB69-F6D8-4C0E-9C49-B155BA94663E}">
      <dgm:prSet phldrT="[Text]"/>
      <dgm:spPr/>
      <dgm:t>
        <a:bodyPr/>
        <a:lstStyle/>
        <a:p>
          <a:r>
            <a:rPr lang="en-US" dirty="0" err="1"/>
            <a:t>Streamlit</a:t>
          </a:r>
          <a:r>
            <a:rPr lang="en-US" dirty="0"/>
            <a:t> Web Application</a:t>
          </a:r>
          <a:endParaRPr lang="en-IN" dirty="0"/>
        </a:p>
      </dgm:t>
    </dgm:pt>
    <dgm:pt modelId="{4F11B0D9-A3BF-4BCB-BE90-C44CB6BA5DBA}" type="parTrans" cxnId="{0D3C87D7-9D2C-4DA9-B7C7-133212F1D17C}">
      <dgm:prSet/>
      <dgm:spPr/>
      <dgm:t>
        <a:bodyPr/>
        <a:lstStyle/>
        <a:p>
          <a:endParaRPr lang="en-IN"/>
        </a:p>
      </dgm:t>
    </dgm:pt>
    <dgm:pt modelId="{4DB464BF-0509-4F03-A659-856425FCEDD1}" type="sibTrans" cxnId="{0D3C87D7-9D2C-4DA9-B7C7-133212F1D17C}">
      <dgm:prSet/>
      <dgm:spPr/>
      <dgm:t>
        <a:bodyPr/>
        <a:lstStyle/>
        <a:p>
          <a:endParaRPr lang="en-IN"/>
        </a:p>
      </dgm:t>
    </dgm:pt>
    <dgm:pt modelId="{8F95DC34-ACE7-4764-B571-4B6358E16288}" type="pres">
      <dgm:prSet presAssocID="{2898DF47-4C2A-426C-BB0E-67428942D805}" presName="CompostProcess" presStyleCnt="0">
        <dgm:presLayoutVars>
          <dgm:dir/>
          <dgm:resizeHandles val="exact"/>
        </dgm:presLayoutVars>
      </dgm:prSet>
      <dgm:spPr/>
    </dgm:pt>
    <dgm:pt modelId="{9FC81A2A-17EC-4213-A035-75375448F1AC}" type="pres">
      <dgm:prSet presAssocID="{2898DF47-4C2A-426C-BB0E-67428942D805}" presName="arrow" presStyleLbl="bgShp" presStyleIdx="0" presStyleCnt="1"/>
      <dgm:spPr/>
    </dgm:pt>
    <dgm:pt modelId="{AB00A456-ADEC-4BBE-A5A3-53C5F5102AE0}" type="pres">
      <dgm:prSet presAssocID="{2898DF47-4C2A-426C-BB0E-67428942D805}" presName="linearProcess" presStyleCnt="0"/>
      <dgm:spPr/>
    </dgm:pt>
    <dgm:pt modelId="{E9AF4AE2-09B3-49FD-93E8-D03C0BD7DC6C}" type="pres">
      <dgm:prSet presAssocID="{9FB6104A-CD37-45C6-BBE9-11B02C93DED5}" presName="textNode" presStyleLbl="node1" presStyleIdx="0" presStyleCnt="7">
        <dgm:presLayoutVars>
          <dgm:bulletEnabled val="1"/>
        </dgm:presLayoutVars>
      </dgm:prSet>
      <dgm:spPr/>
    </dgm:pt>
    <dgm:pt modelId="{AE377D67-3700-4EFC-A9D7-033A9C4A2956}" type="pres">
      <dgm:prSet presAssocID="{288D42AD-E025-49E7-950B-B989EE311544}" presName="sibTrans" presStyleCnt="0"/>
      <dgm:spPr/>
    </dgm:pt>
    <dgm:pt modelId="{9202FDC7-AC65-4F61-8206-A9CFE26EE6CC}" type="pres">
      <dgm:prSet presAssocID="{685C4434-E2AE-4EF1-A523-89413BBA0131}" presName="textNode" presStyleLbl="node1" presStyleIdx="1" presStyleCnt="7">
        <dgm:presLayoutVars>
          <dgm:bulletEnabled val="1"/>
        </dgm:presLayoutVars>
      </dgm:prSet>
      <dgm:spPr/>
    </dgm:pt>
    <dgm:pt modelId="{AA832546-0EA8-4CFD-801B-D5AF5870FD4E}" type="pres">
      <dgm:prSet presAssocID="{733977B7-72CC-4030-B8F5-89B02C711137}" presName="sibTrans" presStyleCnt="0"/>
      <dgm:spPr/>
    </dgm:pt>
    <dgm:pt modelId="{1364FFAD-C39A-4125-9089-D6A16D6CBB63}" type="pres">
      <dgm:prSet presAssocID="{4D6B208E-1C5C-417F-8F89-D6C39F0DDEBB}" presName="textNode" presStyleLbl="node1" presStyleIdx="2" presStyleCnt="7">
        <dgm:presLayoutVars>
          <dgm:bulletEnabled val="1"/>
        </dgm:presLayoutVars>
      </dgm:prSet>
      <dgm:spPr/>
    </dgm:pt>
    <dgm:pt modelId="{F11D8EF4-B20B-40D9-9271-D4B470ADB80D}" type="pres">
      <dgm:prSet presAssocID="{B9ADF761-410D-4AF8-A489-03F6DE4CBC14}" presName="sibTrans" presStyleCnt="0"/>
      <dgm:spPr/>
    </dgm:pt>
    <dgm:pt modelId="{AA8E4DAA-0095-4E86-BF77-EB3035F8EC9C}" type="pres">
      <dgm:prSet presAssocID="{431352AB-5EC2-415C-9745-D0C3B8045137}" presName="textNode" presStyleLbl="node1" presStyleIdx="3" presStyleCnt="7">
        <dgm:presLayoutVars>
          <dgm:bulletEnabled val="1"/>
        </dgm:presLayoutVars>
      </dgm:prSet>
      <dgm:spPr/>
    </dgm:pt>
    <dgm:pt modelId="{F010CA07-78C5-472E-8323-9D7EF8830EE0}" type="pres">
      <dgm:prSet presAssocID="{CBE58F8A-52C4-4C73-8F55-E580FD264AF3}" presName="sibTrans" presStyleCnt="0"/>
      <dgm:spPr/>
    </dgm:pt>
    <dgm:pt modelId="{FD1F3920-E03B-4ABC-9B89-E57366A8E60D}" type="pres">
      <dgm:prSet presAssocID="{C5BF68D6-7AA7-487B-9EAC-0EEDA3E45182}" presName="textNode" presStyleLbl="node1" presStyleIdx="4" presStyleCnt="7">
        <dgm:presLayoutVars>
          <dgm:bulletEnabled val="1"/>
        </dgm:presLayoutVars>
      </dgm:prSet>
      <dgm:spPr/>
    </dgm:pt>
    <dgm:pt modelId="{EED0D57B-BFA6-402A-89BE-80C8F7C6DF05}" type="pres">
      <dgm:prSet presAssocID="{2EAB8C40-F20C-4581-9F96-9853AA324A53}" presName="sibTrans" presStyleCnt="0"/>
      <dgm:spPr/>
    </dgm:pt>
    <dgm:pt modelId="{CAF80F82-85FD-44B5-B343-AA7057153B74}" type="pres">
      <dgm:prSet presAssocID="{B7562FE8-99F9-43B1-AA24-5AC0BFD25763}" presName="textNode" presStyleLbl="node1" presStyleIdx="5" presStyleCnt="7">
        <dgm:presLayoutVars>
          <dgm:bulletEnabled val="1"/>
        </dgm:presLayoutVars>
      </dgm:prSet>
      <dgm:spPr/>
    </dgm:pt>
    <dgm:pt modelId="{24340692-D8AF-4680-AE75-8ABA80311948}" type="pres">
      <dgm:prSet presAssocID="{CF783171-D79A-42E5-97B5-518AAA61DF6F}" presName="sibTrans" presStyleCnt="0"/>
      <dgm:spPr/>
    </dgm:pt>
    <dgm:pt modelId="{3DF86775-CE95-4003-BC8B-72417FC91F47}" type="pres">
      <dgm:prSet presAssocID="{0097AB69-F6D8-4C0E-9C49-B155BA94663E}" presName="textNode" presStyleLbl="node1" presStyleIdx="6" presStyleCnt="7">
        <dgm:presLayoutVars>
          <dgm:bulletEnabled val="1"/>
        </dgm:presLayoutVars>
      </dgm:prSet>
      <dgm:spPr/>
    </dgm:pt>
  </dgm:ptLst>
  <dgm:cxnLst>
    <dgm:cxn modelId="{90533F07-76F1-4C3C-893D-05FFAB5C4522}" type="presOf" srcId="{0097AB69-F6D8-4C0E-9C49-B155BA94663E}" destId="{3DF86775-CE95-4003-BC8B-72417FC91F47}" srcOrd="0" destOrd="0" presId="urn:microsoft.com/office/officeart/2005/8/layout/hProcess9"/>
    <dgm:cxn modelId="{B649BC15-25E3-4531-9DCD-6ACB0F7DDF67}" srcId="{2898DF47-4C2A-426C-BB0E-67428942D805}" destId="{B7562FE8-99F9-43B1-AA24-5AC0BFD25763}" srcOrd="5" destOrd="0" parTransId="{DF59F4DD-5048-4A38-B1B8-DE569E16F42F}" sibTransId="{CF783171-D79A-42E5-97B5-518AAA61DF6F}"/>
    <dgm:cxn modelId="{96DFF75E-A19F-4831-BB05-664FEA9604CA}" type="presOf" srcId="{4D6B208E-1C5C-417F-8F89-D6C39F0DDEBB}" destId="{1364FFAD-C39A-4125-9089-D6A16D6CBB63}" srcOrd="0" destOrd="0" presId="urn:microsoft.com/office/officeart/2005/8/layout/hProcess9"/>
    <dgm:cxn modelId="{A6AF7F61-17A2-496F-B5BE-84705DF24B8E}" srcId="{2898DF47-4C2A-426C-BB0E-67428942D805}" destId="{431352AB-5EC2-415C-9745-D0C3B8045137}" srcOrd="3" destOrd="0" parTransId="{BD065731-2843-43A4-8B57-A66078B2574E}" sibTransId="{CBE58F8A-52C4-4C73-8F55-E580FD264AF3}"/>
    <dgm:cxn modelId="{3BBDD14A-0231-42EC-B757-E28CAAB39B45}" srcId="{2898DF47-4C2A-426C-BB0E-67428942D805}" destId="{4D6B208E-1C5C-417F-8F89-D6C39F0DDEBB}" srcOrd="2" destOrd="0" parTransId="{68D09821-3AFD-40CF-AF80-311FAE274BEB}" sibTransId="{B9ADF761-410D-4AF8-A489-03F6DE4CBC14}"/>
    <dgm:cxn modelId="{6E04FE4C-CE96-43E0-A628-90729784A650}" type="presOf" srcId="{685C4434-E2AE-4EF1-A523-89413BBA0131}" destId="{9202FDC7-AC65-4F61-8206-A9CFE26EE6CC}" srcOrd="0" destOrd="0" presId="urn:microsoft.com/office/officeart/2005/8/layout/hProcess9"/>
    <dgm:cxn modelId="{82BA4D51-8914-4A6A-A76A-3F6582963886}" srcId="{2898DF47-4C2A-426C-BB0E-67428942D805}" destId="{685C4434-E2AE-4EF1-A523-89413BBA0131}" srcOrd="1" destOrd="0" parTransId="{79A29A76-7BA6-4BEC-B66F-D479FFF8E6B1}" sibTransId="{733977B7-72CC-4030-B8F5-89B02C711137}"/>
    <dgm:cxn modelId="{22C9E1A4-8416-43A1-B576-1F0A14479D7D}" srcId="{2898DF47-4C2A-426C-BB0E-67428942D805}" destId="{9FB6104A-CD37-45C6-BBE9-11B02C93DED5}" srcOrd="0" destOrd="0" parTransId="{DCDDB4C0-38CB-452F-86D8-E639C7C3D20D}" sibTransId="{288D42AD-E025-49E7-950B-B989EE311544}"/>
    <dgm:cxn modelId="{E8B270BE-4DB4-4EE4-9599-B1164727B639}" type="presOf" srcId="{431352AB-5EC2-415C-9745-D0C3B8045137}" destId="{AA8E4DAA-0095-4E86-BF77-EB3035F8EC9C}" srcOrd="0" destOrd="0" presId="urn:microsoft.com/office/officeart/2005/8/layout/hProcess9"/>
    <dgm:cxn modelId="{FAB13CC6-4F76-40B9-86CF-CE2B74D08AC5}" type="presOf" srcId="{9FB6104A-CD37-45C6-BBE9-11B02C93DED5}" destId="{E9AF4AE2-09B3-49FD-93E8-D03C0BD7DC6C}" srcOrd="0" destOrd="0" presId="urn:microsoft.com/office/officeart/2005/8/layout/hProcess9"/>
    <dgm:cxn modelId="{0D3C87D7-9D2C-4DA9-B7C7-133212F1D17C}" srcId="{2898DF47-4C2A-426C-BB0E-67428942D805}" destId="{0097AB69-F6D8-4C0E-9C49-B155BA94663E}" srcOrd="6" destOrd="0" parTransId="{4F11B0D9-A3BF-4BCB-BE90-C44CB6BA5DBA}" sibTransId="{4DB464BF-0509-4F03-A659-856425FCEDD1}"/>
    <dgm:cxn modelId="{80F45DDE-5E2F-46B5-B152-22FC6586F2F4}" type="presOf" srcId="{2898DF47-4C2A-426C-BB0E-67428942D805}" destId="{8F95DC34-ACE7-4764-B571-4B6358E16288}" srcOrd="0" destOrd="0" presId="urn:microsoft.com/office/officeart/2005/8/layout/hProcess9"/>
    <dgm:cxn modelId="{DC234FF0-E6CE-4FBE-B9E6-4E8C85004017}" type="presOf" srcId="{B7562FE8-99F9-43B1-AA24-5AC0BFD25763}" destId="{CAF80F82-85FD-44B5-B343-AA7057153B74}" srcOrd="0" destOrd="0" presId="urn:microsoft.com/office/officeart/2005/8/layout/hProcess9"/>
    <dgm:cxn modelId="{CB1FE7F7-6AB0-4905-89B8-18062E73211C}" srcId="{2898DF47-4C2A-426C-BB0E-67428942D805}" destId="{C5BF68D6-7AA7-487B-9EAC-0EEDA3E45182}" srcOrd="4" destOrd="0" parTransId="{50A81FE4-ACDF-46FD-8C48-CA6F6810E94D}" sibTransId="{2EAB8C40-F20C-4581-9F96-9853AA324A53}"/>
    <dgm:cxn modelId="{9DA0FDF9-33ED-4FD5-BFDA-8D1203B43D2C}" type="presOf" srcId="{C5BF68D6-7AA7-487B-9EAC-0EEDA3E45182}" destId="{FD1F3920-E03B-4ABC-9B89-E57366A8E60D}" srcOrd="0" destOrd="0" presId="urn:microsoft.com/office/officeart/2005/8/layout/hProcess9"/>
    <dgm:cxn modelId="{BD6665E1-40E9-41B2-9C11-DE0A7B289711}" type="presParOf" srcId="{8F95DC34-ACE7-4764-B571-4B6358E16288}" destId="{9FC81A2A-17EC-4213-A035-75375448F1AC}" srcOrd="0" destOrd="0" presId="urn:microsoft.com/office/officeart/2005/8/layout/hProcess9"/>
    <dgm:cxn modelId="{30D081AC-E524-4779-9404-914B933B6E14}" type="presParOf" srcId="{8F95DC34-ACE7-4764-B571-4B6358E16288}" destId="{AB00A456-ADEC-4BBE-A5A3-53C5F5102AE0}" srcOrd="1" destOrd="0" presId="urn:microsoft.com/office/officeart/2005/8/layout/hProcess9"/>
    <dgm:cxn modelId="{5D96460C-5C55-4855-9E7F-3BD603A5540D}" type="presParOf" srcId="{AB00A456-ADEC-4BBE-A5A3-53C5F5102AE0}" destId="{E9AF4AE2-09B3-49FD-93E8-D03C0BD7DC6C}" srcOrd="0" destOrd="0" presId="urn:microsoft.com/office/officeart/2005/8/layout/hProcess9"/>
    <dgm:cxn modelId="{59999657-5E39-45B4-8480-D940C4690FE9}" type="presParOf" srcId="{AB00A456-ADEC-4BBE-A5A3-53C5F5102AE0}" destId="{AE377D67-3700-4EFC-A9D7-033A9C4A2956}" srcOrd="1" destOrd="0" presId="urn:microsoft.com/office/officeart/2005/8/layout/hProcess9"/>
    <dgm:cxn modelId="{7FC19974-9F38-479F-9AE0-EBE6BADCC785}" type="presParOf" srcId="{AB00A456-ADEC-4BBE-A5A3-53C5F5102AE0}" destId="{9202FDC7-AC65-4F61-8206-A9CFE26EE6CC}" srcOrd="2" destOrd="0" presId="urn:microsoft.com/office/officeart/2005/8/layout/hProcess9"/>
    <dgm:cxn modelId="{D0FA3C3A-84DB-467B-B4EF-1291D6357CE0}" type="presParOf" srcId="{AB00A456-ADEC-4BBE-A5A3-53C5F5102AE0}" destId="{AA832546-0EA8-4CFD-801B-D5AF5870FD4E}" srcOrd="3" destOrd="0" presId="urn:microsoft.com/office/officeart/2005/8/layout/hProcess9"/>
    <dgm:cxn modelId="{B2D2E6D8-CC5C-4361-9383-9932D967B119}" type="presParOf" srcId="{AB00A456-ADEC-4BBE-A5A3-53C5F5102AE0}" destId="{1364FFAD-C39A-4125-9089-D6A16D6CBB63}" srcOrd="4" destOrd="0" presId="urn:microsoft.com/office/officeart/2005/8/layout/hProcess9"/>
    <dgm:cxn modelId="{BDC3F85C-1D5F-43C1-8F6A-618D1C57984E}" type="presParOf" srcId="{AB00A456-ADEC-4BBE-A5A3-53C5F5102AE0}" destId="{F11D8EF4-B20B-40D9-9271-D4B470ADB80D}" srcOrd="5" destOrd="0" presId="urn:microsoft.com/office/officeart/2005/8/layout/hProcess9"/>
    <dgm:cxn modelId="{4EB017FB-92BF-4D77-807E-3C80DBF4F8E6}" type="presParOf" srcId="{AB00A456-ADEC-4BBE-A5A3-53C5F5102AE0}" destId="{AA8E4DAA-0095-4E86-BF77-EB3035F8EC9C}" srcOrd="6" destOrd="0" presId="urn:microsoft.com/office/officeart/2005/8/layout/hProcess9"/>
    <dgm:cxn modelId="{0693CE3C-8D86-48FE-A8D8-FEEE9582EA76}" type="presParOf" srcId="{AB00A456-ADEC-4BBE-A5A3-53C5F5102AE0}" destId="{F010CA07-78C5-472E-8323-9D7EF8830EE0}" srcOrd="7" destOrd="0" presId="urn:microsoft.com/office/officeart/2005/8/layout/hProcess9"/>
    <dgm:cxn modelId="{E640D06D-90CB-418D-BE5F-49E47626503D}" type="presParOf" srcId="{AB00A456-ADEC-4BBE-A5A3-53C5F5102AE0}" destId="{FD1F3920-E03B-4ABC-9B89-E57366A8E60D}" srcOrd="8" destOrd="0" presId="urn:microsoft.com/office/officeart/2005/8/layout/hProcess9"/>
    <dgm:cxn modelId="{A4D4724C-3911-4425-95D9-3099FC347B67}" type="presParOf" srcId="{AB00A456-ADEC-4BBE-A5A3-53C5F5102AE0}" destId="{EED0D57B-BFA6-402A-89BE-80C8F7C6DF05}" srcOrd="9" destOrd="0" presId="urn:microsoft.com/office/officeart/2005/8/layout/hProcess9"/>
    <dgm:cxn modelId="{327968AB-8B9F-4610-90B4-D2F74CA17CE3}" type="presParOf" srcId="{AB00A456-ADEC-4BBE-A5A3-53C5F5102AE0}" destId="{CAF80F82-85FD-44B5-B343-AA7057153B74}" srcOrd="10" destOrd="0" presId="urn:microsoft.com/office/officeart/2005/8/layout/hProcess9"/>
    <dgm:cxn modelId="{2F53FC80-9577-4A3D-B643-7A7448E10C2D}" type="presParOf" srcId="{AB00A456-ADEC-4BBE-A5A3-53C5F5102AE0}" destId="{24340692-D8AF-4680-AE75-8ABA80311948}" srcOrd="11" destOrd="0" presId="urn:microsoft.com/office/officeart/2005/8/layout/hProcess9"/>
    <dgm:cxn modelId="{10F2A8CE-53D9-4324-9C36-397B0C557609}" type="presParOf" srcId="{AB00A456-ADEC-4BBE-A5A3-53C5F5102AE0}" destId="{3DF86775-CE95-4003-BC8B-72417FC91F47}" srcOrd="1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6B23A49-D2D1-4E2F-83B4-818FFF7D54ED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73784A53-4F3F-47BA-A600-EEC6635E16D0}">
      <dgm:prSet phldrT="[Text]"/>
      <dgm:spPr/>
      <dgm:t>
        <a:bodyPr/>
        <a:lstStyle/>
        <a:p>
          <a:r>
            <a:rPr lang="en-US" dirty="0"/>
            <a:t>Data Visualization Charts</a:t>
          </a:r>
          <a:endParaRPr lang="en-IN" dirty="0"/>
        </a:p>
      </dgm:t>
    </dgm:pt>
    <dgm:pt modelId="{BEEFB923-EEFD-4B17-8BD1-5919E261B089}" type="parTrans" cxnId="{CA3F92F5-2962-4AFC-AB38-E794D09E5249}">
      <dgm:prSet/>
      <dgm:spPr/>
      <dgm:t>
        <a:bodyPr/>
        <a:lstStyle/>
        <a:p>
          <a:endParaRPr lang="en-IN"/>
        </a:p>
      </dgm:t>
    </dgm:pt>
    <dgm:pt modelId="{96DA34BB-9DE7-4DF2-AE49-9915D4FF81AC}" type="sibTrans" cxnId="{CA3F92F5-2962-4AFC-AB38-E794D09E5249}">
      <dgm:prSet/>
      <dgm:spPr/>
      <dgm:t>
        <a:bodyPr/>
        <a:lstStyle/>
        <a:p>
          <a:endParaRPr lang="en-IN"/>
        </a:p>
      </dgm:t>
    </dgm:pt>
    <dgm:pt modelId="{8B61EFB1-0429-494E-A4DE-B361F419339B}">
      <dgm:prSet phldrT="[Text]"/>
      <dgm:spPr/>
      <dgm:t>
        <a:bodyPr/>
        <a:lstStyle/>
        <a:p>
          <a:r>
            <a:rPr lang="en-US" dirty="0" err="1"/>
            <a:t>Streamlit</a:t>
          </a:r>
          <a:endParaRPr lang="en-IN" dirty="0"/>
        </a:p>
      </dgm:t>
    </dgm:pt>
    <dgm:pt modelId="{C689070F-2AE3-4A9B-A0B2-91D380F00904}" type="sibTrans" cxnId="{09075C23-9F1E-468E-8915-A75278FC0916}">
      <dgm:prSet/>
      <dgm:spPr/>
      <dgm:t>
        <a:bodyPr/>
        <a:lstStyle/>
        <a:p>
          <a:endParaRPr lang="en-IN"/>
        </a:p>
      </dgm:t>
    </dgm:pt>
    <dgm:pt modelId="{BC9A8AB4-7E33-4443-B293-35E14D2EDC23}" type="parTrans" cxnId="{09075C23-9F1E-468E-8915-A75278FC0916}">
      <dgm:prSet/>
      <dgm:spPr/>
      <dgm:t>
        <a:bodyPr/>
        <a:lstStyle/>
        <a:p>
          <a:endParaRPr lang="en-IN"/>
        </a:p>
      </dgm:t>
    </dgm:pt>
    <dgm:pt modelId="{F9D33722-1AFF-4D90-8237-E92EAB054A2A}">
      <dgm:prSet phldrT="[Text]"/>
      <dgm:spPr/>
      <dgm:t>
        <a:bodyPr/>
        <a:lstStyle/>
        <a:p>
          <a:r>
            <a:rPr lang="en-US" dirty="0"/>
            <a:t>Power BI</a:t>
          </a:r>
          <a:endParaRPr lang="en-IN" dirty="0"/>
        </a:p>
      </dgm:t>
    </dgm:pt>
    <dgm:pt modelId="{748B1D84-B416-4929-9DEB-B4958758AF58}" type="sibTrans" cxnId="{7241580A-AD36-4787-96DF-82C8075747B4}">
      <dgm:prSet/>
      <dgm:spPr/>
      <dgm:t>
        <a:bodyPr/>
        <a:lstStyle/>
        <a:p>
          <a:endParaRPr lang="en-IN"/>
        </a:p>
      </dgm:t>
    </dgm:pt>
    <dgm:pt modelId="{AEB89616-E263-48E6-99DE-964407C412A5}" type="parTrans" cxnId="{7241580A-AD36-4787-96DF-82C8075747B4}">
      <dgm:prSet/>
      <dgm:spPr/>
      <dgm:t>
        <a:bodyPr/>
        <a:lstStyle/>
        <a:p>
          <a:endParaRPr lang="en-IN"/>
        </a:p>
      </dgm:t>
    </dgm:pt>
    <dgm:pt modelId="{C26E4292-CBF4-4B83-A775-D65F741DEC11}">
      <dgm:prSet/>
      <dgm:spPr/>
      <dgm:t>
        <a:bodyPr/>
        <a:lstStyle/>
        <a:p>
          <a:r>
            <a:rPr lang="en-US" dirty="0"/>
            <a:t>Used to  create interactive dashboards for visualizing sales trends, branch performance, product analysis and forecasting results.</a:t>
          </a:r>
          <a:endParaRPr lang="en-IN" dirty="0"/>
        </a:p>
      </dgm:t>
    </dgm:pt>
    <dgm:pt modelId="{BC5A82AF-2DB3-45EB-964E-4A2EF559A6A3}" type="parTrans" cxnId="{B3A75DCE-E6C9-49FC-805B-AD1364B87AC8}">
      <dgm:prSet/>
      <dgm:spPr/>
      <dgm:t>
        <a:bodyPr/>
        <a:lstStyle/>
        <a:p>
          <a:endParaRPr lang="en-IN"/>
        </a:p>
      </dgm:t>
    </dgm:pt>
    <dgm:pt modelId="{29C6BFC4-4E99-4D98-8C6F-A8A83EC5A242}" type="sibTrans" cxnId="{B3A75DCE-E6C9-49FC-805B-AD1364B87AC8}">
      <dgm:prSet/>
      <dgm:spPr/>
      <dgm:t>
        <a:bodyPr/>
        <a:lstStyle/>
        <a:p>
          <a:endParaRPr lang="en-IN"/>
        </a:p>
      </dgm:t>
    </dgm:pt>
    <dgm:pt modelId="{B8CE4F0E-E472-4F35-B6D6-1EA5C637CB28}">
      <dgm:prSet/>
      <dgm:spPr/>
      <dgm:t>
        <a:bodyPr/>
        <a:lstStyle/>
        <a:p>
          <a:r>
            <a:rPr lang="en-US" dirty="0"/>
            <a:t>Used to develop a web based interface that allows users to explore analytics system easily</a:t>
          </a:r>
          <a:endParaRPr lang="en-IN" dirty="0"/>
        </a:p>
      </dgm:t>
    </dgm:pt>
    <dgm:pt modelId="{0011BD9C-CAEC-4AE1-83C6-738FD9D6F829}" type="parTrans" cxnId="{AC4E7330-232E-412A-8A9E-2A00E5760676}">
      <dgm:prSet/>
      <dgm:spPr/>
      <dgm:t>
        <a:bodyPr/>
        <a:lstStyle/>
        <a:p>
          <a:endParaRPr lang="en-IN"/>
        </a:p>
      </dgm:t>
    </dgm:pt>
    <dgm:pt modelId="{6D16417F-E8D2-4AD2-B1A3-46FCB3194879}" type="sibTrans" cxnId="{AC4E7330-232E-412A-8A9E-2A00E5760676}">
      <dgm:prSet/>
      <dgm:spPr/>
      <dgm:t>
        <a:bodyPr/>
        <a:lstStyle/>
        <a:p>
          <a:endParaRPr lang="en-IN"/>
        </a:p>
      </dgm:t>
    </dgm:pt>
    <dgm:pt modelId="{DC27679A-C73A-45B6-AC3C-48C19B79FA2D}">
      <dgm:prSet/>
      <dgm:spPr/>
      <dgm:t>
        <a:bodyPr/>
        <a:lstStyle/>
        <a:p>
          <a:r>
            <a:rPr lang="en-US" dirty="0"/>
            <a:t>Charts such as bar charts, line charts, and pie charts were used to present insights clearly</a:t>
          </a:r>
          <a:endParaRPr lang="en-IN" dirty="0"/>
        </a:p>
      </dgm:t>
    </dgm:pt>
    <dgm:pt modelId="{B2715F29-2E0C-414B-A78E-58AFB42946E4}" type="parTrans" cxnId="{616DEBDB-0A2A-4005-AFFD-26392B30D19D}">
      <dgm:prSet/>
      <dgm:spPr/>
      <dgm:t>
        <a:bodyPr/>
        <a:lstStyle/>
        <a:p>
          <a:endParaRPr lang="en-IN"/>
        </a:p>
      </dgm:t>
    </dgm:pt>
    <dgm:pt modelId="{16CD9F3D-37D0-4AAC-BBA1-75B9050325BB}" type="sibTrans" cxnId="{616DEBDB-0A2A-4005-AFFD-26392B30D19D}">
      <dgm:prSet/>
      <dgm:spPr/>
      <dgm:t>
        <a:bodyPr/>
        <a:lstStyle/>
        <a:p>
          <a:endParaRPr lang="en-IN"/>
        </a:p>
      </dgm:t>
    </dgm:pt>
    <dgm:pt modelId="{2B1A3D80-42E7-44B8-95B8-9074F8E2321F}" type="pres">
      <dgm:prSet presAssocID="{C6B23A49-D2D1-4E2F-83B4-818FFF7D54ED}" presName="linear" presStyleCnt="0">
        <dgm:presLayoutVars>
          <dgm:dir/>
          <dgm:animLvl val="lvl"/>
          <dgm:resizeHandles val="exact"/>
        </dgm:presLayoutVars>
      </dgm:prSet>
      <dgm:spPr/>
    </dgm:pt>
    <dgm:pt modelId="{28493AE9-72FC-4446-80A4-2E0F58E838B5}" type="pres">
      <dgm:prSet presAssocID="{F9D33722-1AFF-4D90-8237-E92EAB054A2A}" presName="parentLin" presStyleCnt="0"/>
      <dgm:spPr/>
    </dgm:pt>
    <dgm:pt modelId="{4CDFAC87-05A8-485D-BD83-9CA7AA547B25}" type="pres">
      <dgm:prSet presAssocID="{F9D33722-1AFF-4D90-8237-E92EAB054A2A}" presName="parentLeftMargin" presStyleLbl="node1" presStyleIdx="0" presStyleCnt="3"/>
      <dgm:spPr/>
    </dgm:pt>
    <dgm:pt modelId="{EECF0329-A31A-4E27-A671-C1310889D6BC}" type="pres">
      <dgm:prSet presAssocID="{F9D33722-1AFF-4D90-8237-E92EAB054A2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198B1B3-8493-4A83-9665-1DB6E7402F4A}" type="pres">
      <dgm:prSet presAssocID="{F9D33722-1AFF-4D90-8237-E92EAB054A2A}" presName="negativeSpace" presStyleCnt="0"/>
      <dgm:spPr/>
    </dgm:pt>
    <dgm:pt modelId="{A7C7EA9B-46D7-42AF-A095-E764DE1009B2}" type="pres">
      <dgm:prSet presAssocID="{F9D33722-1AFF-4D90-8237-E92EAB054A2A}" presName="childText" presStyleLbl="conFgAcc1" presStyleIdx="0" presStyleCnt="3" custLinFactNeighborX="198" custLinFactNeighborY="-26360">
        <dgm:presLayoutVars>
          <dgm:bulletEnabled val="1"/>
        </dgm:presLayoutVars>
      </dgm:prSet>
      <dgm:spPr/>
    </dgm:pt>
    <dgm:pt modelId="{C545BC2E-8788-42EB-A1B1-439258081C12}" type="pres">
      <dgm:prSet presAssocID="{748B1D84-B416-4929-9DEB-B4958758AF58}" presName="spaceBetweenRectangles" presStyleCnt="0"/>
      <dgm:spPr/>
    </dgm:pt>
    <dgm:pt modelId="{7047FF9A-8A5C-4FA0-875C-030A60342395}" type="pres">
      <dgm:prSet presAssocID="{8B61EFB1-0429-494E-A4DE-B361F419339B}" presName="parentLin" presStyleCnt="0"/>
      <dgm:spPr/>
    </dgm:pt>
    <dgm:pt modelId="{6BA70512-66A0-4018-A690-C04F54BDD12D}" type="pres">
      <dgm:prSet presAssocID="{8B61EFB1-0429-494E-A4DE-B361F419339B}" presName="parentLeftMargin" presStyleLbl="node1" presStyleIdx="0" presStyleCnt="3"/>
      <dgm:spPr/>
    </dgm:pt>
    <dgm:pt modelId="{F3072EBB-F363-4E7B-9E2C-2DEC64DFFF3C}" type="pres">
      <dgm:prSet presAssocID="{8B61EFB1-0429-494E-A4DE-B361F419339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2F4B84D-D0F3-40AE-9711-633981AAD84E}" type="pres">
      <dgm:prSet presAssocID="{8B61EFB1-0429-494E-A4DE-B361F419339B}" presName="negativeSpace" presStyleCnt="0"/>
      <dgm:spPr/>
    </dgm:pt>
    <dgm:pt modelId="{60ACAFB8-FF80-45CC-902D-B9AD208F8375}" type="pres">
      <dgm:prSet presAssocID="{8B61EFB1-0429-494E-A4DE-B361F419339B}" presName="childText" presStyleLbl="conFgAcc1" presStyleIdx="1" presStyleCnt="3">
        <dgm:presLayoutVars>
          <dgm:bulletEnabled val="1"/>
        </dgm:presLayoutVars>
      </dgm:prSet>
      <dgm:spPr/>
    </dgm:pt>
    <dgm:pt modelId="{2C890F06-42BE-4D7D-999A-D987E46CA6C9}" type="pres">
      <dgm:prSet presAssocID="{C689070F-2AE3-4A9B-A0B2-91D380F00904}" presName="spaceBetweenRectangles" presStyleCnt="0"/>
      <dgm:spPr/>
    </dgm:pt>
    <dgm:pt modelId="{605B0350-40CC-4F8E-867A-755A77674892}" type="pres">
      <dgm:prSet presAssocID="{73784A53-4F3F-47BA-A600-EEC6635E16D0}" presName="parentLin" presStyleCnt="0"/>
      <dgm:spPr/>
    </dgm:pt>
    <dgm:pt modelId="{AF9E346D-D7F4-45E1-8B48-B7FE7EBA4909}" type="pres">
      <dgm:prSet presAssocID="{73784A53-4F3F-47BA-A600-EEC6635E16D0}" presName="parentLeftMargin" presStyleLbl="node1" presStyleIdx="1" presStyleCnt="3"/>
      <dgm:spPr/>
    </dgm:pt>
    <dgm:pt modelId="{5442F3B9-E0E2-44ED-80E1-B5868179B66E}" type="pres">
      <dgm:prSet presAssocID="{73784A53-4F3F-47BA-A600-EEC6635E16D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86621A0E-2E65-40A4-A7F2-3F6367EF1472}" type="pres">
      <dgm:prSet presAssocID="{73784A53-4F3F-47BA-A600-EEC6635E16D0}" presName="negativeSpace" presStyleCnt="0"/>
      <dgm:spPr/>
    </dgm:pt>
    <dgm:pt modelId="{0DC7555B-7AA4-4D92-AD9B-472327EC2CA1}" type="pres">
      <dgm:prSet presAssocID="{73784A53-4F3F-47BA-A600-EEC6635E16D0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7E3AF00-C682-4226-A165-1953F06C258F}" type="presOf" srcId="{8B61EFB1-0429-494E-A4DE-B361F419339B}" destId="{F3072EBB-F363-4E7B-9E2C-2DEC64DFFF3C}" srcOrd="1" destOrd="0" presId="urn:microsoft.com/office/officeart/2005/8/layout/list1"/>
    <dgm:cxn modelId="{7241580A-AD36-4787-96DF-82C8075747B4}" srcId="{C6B23A49-D2D1-4E2F-83B4-818FFF7D54ED}" destId="{F9D33722-1AFF-4D90-8237-E92EAB054A2A}" srcOrd="0" destOrd="0" parTransId="{AEB89616-E263-48E6-99DE-964407C412A5}" sibTransId="{748B1D84-B416-4929-9DEB-B4958758AF58}"/>
    <dgm:cxn modelId="{BCCA080E-1073-4D61-98A9-BB51C489F04E}" type="presOf" srcId="{C6B23A49-D2D1-4E2F-83B4-818FFF7D54ED}" destId="{2B1A3D80-42E7-44B8-95B8-9074F8E2321F}" srcOrd="0" destOrd="0" presId="urn:microsoft.com/office/officeart/2005/8/layout/list1"/>
    <dgm:cxn modelId="{D3D7671F-8FC6-430F-9C5A-75FC2428F73D}" type="presOf" srcId="{B8CE4F0E-E472-4F35-B6D6-1EA5C637CB28}" destId="{60ACAFB8-FF80-45CC-902D-B9AD208F8375}" srcOrd="0" destOrd="0" presId="urn:microsoft.com/office/officeart/2005/8/layout/list1"/>
    <dgm:cxn modelId="{09075C23-9F1E-468E-8915-A75278FC0916}" srcId="{C6B23A49-D2D1-4E2F-83B4-818FFF7D54ED}" destId="{8B61EFB1-0429-494E-A4DE-B361F419339B}" srcOrd="1" destOrd="0" parTransId="{BC9A8AB4-7E33-4443-B293-35E14D2EDC23}" sibTransId="{C689070F-2AE3-4A9B-A0B2-91D380F00904}"/>
    <dgm:cxn modelId="{AC4E7330-232E-412A-8A9E-2A00E5760676}" srcId="{8B61EFB1-0429-494E-A4DE-B361F419339B}" destId="{B8CE4F0E-E472-4F35-B6D6-1EA5C637CB28}" srcOrd="0" destOrd="0" parTransId="{0011BD9C-CAEC-4AE1-83C6-738FD9D6F829}" sibTransId="{6D16417F-E8D2-4AD2-B1A3-46FCB3194879}"/>
    <dgm:cxn modelId="{4C00814B-8DC1-4115-B769-92A639F47C31}" type="presOf" srcId="{F9D33722-1AFF-4D90-8237-E92EAB054A2A}" destId="{4CDFAC87-05A8-485D-BD83-9CA7AA547B25}" srcOrd="0" destOrd="0" presId="urn:microsoft.com/office/officeart/2005/8/layout/list1"/>
    <dgm:cxn modelId="{04FB8083-E018-44B6-839E-854E8E1FF36B}" type="presOf" srcId="{8B61EFB1-0429-494E-A4DE-B361F419339B}" destId="{6BA70512-66A0-4018-A690-C04F54BDD12D}" srcOrd="0" destOrd="0" presId="urn:microsoft.com/office/officeart/2005/8/layout/list1"/>
    <dgm:cxn modelId="{8E3F698D-8422-4B78-8F5D-BB637553A980}" type="presOf" srcId="{73784A53-4F3F-47BA-A600-EEC6635E16D0}" destId="{AF9E346D-D7F4-45E1-8B48-B7FE7EBA4909}" srcOrd="0" destOrd="0" presId="urn:microsoft.com/office/officeart/2005/8/layout/list1"/>
    <dgm:cxn modelId="{7026DE95-9AE0-4B56-92CD-2373A20E5FA7}" type="presOf" srcId="{DC27679A-C73A-45B6-AC3C-48C19B79FA2D}" destId="{0DC7555B-7AA4-4D92-AD9B-472327EC2CA1}" srcOrd="0" destOrd="0" presId="urn:microsoft.com/office/officeart/2005/8/layout/list1"/>
    <dgm:cxn modelId="{30B074AF-6B5E-4508-AF39-1539391AB98E}" type="presOf" srcId="{F9D33722-1AFF-4D90-8237-E92EAB054A2A}" destId="{EECF0329-A31A-4E27-A671-C1310889D6BC}" srcOrd="1" destOrd="0" presId="urn:microsoft.com/office/officeart/2005/8/layout/list1"/>
    <dgm:cxn modelId="{D03E6BB0-DDED-414B-9BF9-48EFA7FFF658}" type="presOf" srcId="{C26E4292-CBF4-4B83-A775-D65F741DEC11}" destId="{A7C7EA9B-46D7-42AF-A095-E764DE1009B2}" srcOrd="0" destOrd="0" presId="urn:microsoft.com/office/officeart/2005/8/layout/list1"/>
    <dgm:cxn modelId="{660811B4-75B8-42A5-822E-E4428B72E9AD}" type="presOf" srcId="{73784A53-4F3F-47BA-A600-EEC6635E16D0}" destId="{5442F3B9-E0E2-44ED-80E1-B5868179B66E}" srcOrd="1" destOrd="0" presId="urn:microsoft.com/office/officeart/2005/8/layout/list1"/>
    <dgm:cxn modelId="{B3A75DCE-E6C9-49FC-805B-AD1364B87AC8}" srcId="{F9D33722-1AFF-4D90-8237-E92EAB054A2A}" destId="{C26E4292-CBF4-4B83-A775-D65F741DEC11}" srcOrd="0" destOrd="0" parTransId="{BC5A82AF-2DB3-45EB-964E-4A2EF559A6A3}" sibTransId="{29C6BFC4-4E99-4D98-8C6F-A8A83EC5A242}"/>
    <dgm:cxn modelId="{616DEBDB-0A2A-4005-AFFD-26392B30D19D}" srcId="{73784A53-4F3F-47BA-A600-EEC6635E16D0}" destId="{DC27679A-C73A-45B6-AC3C-48C19B79FA2D}" srcOrd="0" destOrd="0" parTransId="{B2715F29-2E0C-414B-A78E-58AFB42946E4}" sibTransId="{16CD9F3D-37D0-4AAC-BBA1-75B9050325BB}"/>
    <dgm:cxn modelId="{CA3F92F5-2962-4AFC-AB38-E794D09E5249}" srcId="{C6B23A49-D2D1-4E2F-83B4-818FFF7D54ED}" destId="{73784A53-4F3F-47BA-A600-EEC6635E16D0}" srcOrd="2" destOrd="0" parTransId="{BEEFB923-EEFD-4B17-8BD1-5919E261B089}" sibTransId="{96DA34BB-9DE7-4DF2-AE49-9915D4FF81AC}"/>
    <dgm:cxn modelId="{376140C6-782F-4741-8345-AF435E969257}" type="presParOf" srcId="{2B1A3D80-42E7-44B8-95B8-9074F8E2321F}" destId="{28493AE9-72FC-4446-80A4-2E0F58E838B5}" srcOrd="0" destOrd="0" presId="urn:microsoft.com/office/officeart/2005/8/layout/list1"/>
    <dgm:cxn modelId="{3B335ABC-0FDB-42BC-9646-E56A56518AE7}" type="presParOf" srcId="{28493AE9-72FC-4446-80A4-2E0F58E838B5}" destId="{4CDFAC87-05A8-485D-BD83-9CA7AA547B25}" srcOrd="0" destOrd="0" presId="urn:microsoft.com/office/officeart/2005/8/layout/list1"/>
    <dgm:cxn modelId="{5FF6D257-1B1C-4EAA-8D08-A6D45E7933EB}" type="presParOf" srcId="{28493AE9-72FC-4446-80A4-2E0F58E838B5}" destId="{EECF0329-A31A-4E27-A671-C1310889D6BC}" srcOrd="1" destOrd="0" presId="urn:microsoft.com/office/officeart/2005/8/layout/list1"/>
    <dgm:cxn modelId="{B2E729B2-BB99-411C-B5F7-B1B93F9119FC}" type="presParOf" srcId="{2B1A3D80-42E7-44B8-95B8-9074F8E2321F}" destId="{1198B1B3-8493-4A83-9665-1DB6E7402F4A}" srcOrd="1" destOrd="0" presId="urn:microsoft.com/office/officeart/2005/8/layout/list1"/>
    <dgm:cxn modelId="{2A201E48-D856-4268-B672-2958097CDC8F}" type="presParOf" srcId="{2B1A3D80-42E7-44B8-95B8-9074F8E2321F}" destId="{A7C7EA9B-46D7-42AF-A095-E764DE1009B2}" srcOrd="2" destOrd="0" presId="urn:microsoft.com/office/officeart/2005/8/layout/list1"/>
    <dgm:cxn modelId="{FEDE6517-33EA-49B8-A6F6-1970D3B8E32C}" type="presParOf" srcId="{2B1A3D80-42E7-44B8-95B8-9074F8E2321F}" destId="{C545BC2E-8788-42EB-A1B1-439258081C12}" srcOrd="3" destOrd="0" presId="urn:microsoft.com/office/officeart/2005/8/layout/list1"/>
    <dgm:cxn modelId="{26D984F7-18B3-4CAD-BF78-1D8F2CBEA0B1}" type="presParOf" srcId="{2B1A3D80-42E7-44B8-95B8-9074F8E2321F}" destId="{7047FF9A-8A5C-4FA0-875C-030A60342395}" srcOrd="4" destOrd="0" presId="urn:microsoft.com/office/officeart/2005/8/layout/list1"/>
    <dgm:cxn modelId="{3E7A9CDD-4E26-4229-B7B5-F744826C5B8A}" type="presParOf" srcId="{7047FF9A-8A5C-4FA0-875C-030A60342395}" destId="{6BA70512-66A0-4018-A690-C04F54BDD12D}" srcOrd="0" destOrd="0" presId="urn:microsoft.com/office/officeart/2005/8/layout/list1"/>
    <dgm:cxn modelId="{9325D935-2E1D-4B65-9D0F-36928A930E13}" type="presParOf" srcId="{7047FF9A-8A5C-4FA0-875C-030A60342395}" destId="{F3072EBB-F363-4E7B-9E2C-2DEC64DFFF3C}" srcOrd="1" destOrd="0" presId="urn:microsoft.com/office/officeart/2005/8/layout/list1"/>
    <dgm:cxn modelId="{4927C29B-688D-4524-A342-55BD1670DD26}" type="presParOf" srcId="{2B1A3D80-42E7-44B8-95B8-9074F8E2321F}" destId="{02F4B84D-D0F3-40AE-9711-633981AAD84E}" srcOrd="5" destOrd="0" presId="urn:microsoft.com/office/officeart/2005/8/layout/list1"/>
    <dgm:cxn modelId="{8CBF48F6-4226-4891-9B64-B8CBE534677C}" type="presParOf" srcId="{2B1A3D80-42E7-44B8-95B8-9074F8E2321F}" destId="{60ACAFB8-FF80-45CC-902D-B9AD208F8375}" srcOrd="6" destOrd="0" presId="urn:microsoft.com/office/officeart/2005/8/layout/list1"/>
    <dgm:cxn modelId="{C6AFDE62-60F7-4CE6-A9E6-A3420F780DA5}" type="presParOf" srcId="{2B1A3D80-42E7-44B8-95B8-9074F8E2321F}" destId="{2C890F06-42BE-4D7D-999A-D987E46CA6C9}" srcOrd="7" destOrd="0" presId="urn:microsoft.com/office/officeart/2005/8/layout/list1"/>
    <dgm:cxn modelId="{BC1A615D-43B0-4F8D-9BF9-E0A8D4F2C764}" type="presParOf" srcId="{2B1A3D80-42E7-44B8-95B8-9074F8E2321F}" destId="{605B0350-40CC-4F8E-867A-755A77674892}" srcOrd="8" destOrd="0" presId="urn:microsoft.com/office/officeart/2005/8/layout/list1"/>
    <dgm:cxn modelId="{DD2D207B-88D2-4A8F-BAAA-CB9DED8E1415}" type="presParOf" srcId="{605B0350-40CC-4F8E-867A-755A77674892}" destId="{AF9E346D-D7F4-45E1-8B48-B7FE7EBA4909}" srcOrd="0" destOrd="0" presId="urn:microsoft.com/office/officeart/2005/8/layout/list1"/>
    <dgm:cxn modelId="{2A79160E-880C-44F8-91BE-594517CF0AB6}" type="presParOf" srcId="{605B0350-40CC-4F8E-867A-755A77674892}" destId="{5442F3B9-E0E2-44ED-80E1-B5868179B66E}" srcOrd="1" destOrd="0" presId="urn:microsoft.com/office/officeart/2005/8/layout/list1"/>
    <dgm:cxn modelId="{C058BE3C-B188-4BC9-8B05-BC70141339A5}" type="presParOf" srcId="{2B1A3D80-42E7-44B8-95B8-9074F8E2321F}" destId="{86621A0E-2E65-40A4-A7F2-3F6367EF1472}" srcOrd="9" destOrd="0" presId="urn:microsoft.com/office/officeart/2005/8/layout/list1"/>
    <dgm:cxn modelId="{5CFDB502-A909-4047-877C-E856DD6A8A28}" type="presParOf" srcId="{2B1A3D80-42E7-44B8-95B8-9074F8E2321F}" destId="{0DC7555B-7AA4-4D92-AD9B-472327EC2CA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C81A2A-17EC-4213-A035-75375448F1AC}">
      <dsp:nvSpPr>
        <dsp:cNvPr id="0" name=""/>
        <dsp:cNvSpPr/>
      </dsp:nvSpPr>
      <dsp:spPr>
        <a:xfrm>
          <a:off x="717946" y="0"/>
          <a:ext cx="8136730" cy="3524251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F4AE2-09B3-49FD-93E8-D03C0BD7DC6C}">
      <dsp:nvSpPr>
        <dsp:cNvPr id="0" name=""/>
        <dsp:cNvSpPr/>
      </dsp:nvSpPr>
      <dsp:spPr>
        <a:xfrm>
          <a:off x="817" y="1057275"/>
          <a:ext cx="1311094" cy="140970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Data Cleaning &amp; Preprocessing</a:t>
          </a:r>
          <a:endParaRPr lang="en-IN" sz="1400" kern="1200" dirty="0"/>
        </a:p>
      </dsp:txBody>
      <dsp:txXfrm>
        <a:off x="64819" y="1121277"/>
        <a:ext cx="1183090" cy="1281696"/>
      </dsp:txXfrm>
    </dsp:sp>
    <dsp:sp modelId="{9202FDC7-AC65-4F61-8206-A9CFE26EE6CC}">
      <dsp:nvSpPr>
        <dsp:cNvPr id="0" name=""/>
        <dsp:cNvSpPr/>
      </dsp:nvSpPr>
      <dsp:spPr>
        <a:xfrm>
          <a:off x="1377466" y="1057275"/>
          <a:ext cx="1311094" cy="1409700"/>
        </a:xfrm>
        <a:prstGeom prst="roundRect">
          <a:avLst/>
        </a:prstGeom>
        <a:solidFill>
          <a:schemeClr val="accent3">
            <a:hueOff val="451767"/>
            <a:satOff val="16667"/>
            <a:lumOff val="-24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Feature Engineering</a:t>
          </a:r>
          <a:endParaRPr lang="en-IN" sz="1400" kern="1200" dirty="0"/>
        </a:p>
      </dsp:txBody>
      <dsp:txXfrm>
        <a:off x="1441468" y="1121277"/>
        <a:ext cx="1183090" cy="1281696"/>
      </dsp:txXfrm>
    </dsp:sp>
    <dsp:sp modelId="{1364FFAD-C39A-4125-9089-D6A16D6CBB63}">
      <dsp:nvSpPr>
        <dsp:cNvPr id="0" name=""/>
        <dsp:cNvSpPr/>
      </dsp:nvSpPr>
      <dsp:spPr>
        <a:xfrm>
          <a:off x="2754115" y="1057275"/>
          <a:ext cx="1311094" cy="1409700"/>
        </a:xfrm>
        <a:prstGeom prst="roundRect">
          <a:avLst/>
        </a:prstGeom>
        <a:solidFill>
          <a:schemeClr val="accent3">
            <a:hueOff val="903533"/>
            <a:satOff val="33333"/>
            <a:lumOff val="-490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Exploratory Data Analysis</a:t>
          </a:r>
          <a:endParaRPr lang="en-IN" sz="1400" kern="1200" dirty="0"/>
        </a:p>
      </dsp:txBody>
      <dsp:txXfrm>
        <a:off x="2818117" y="1121277"/>
        <a:ext cx="1183090" cy="1281696"/>
      </dsp:txXfrm>
    </dsp:sp>
    <dsp:sp modelId="{AA8E4DAA-0095-4E86-BF77-EB3035F8EC9C}">
      <dsp:nvSpPr>
        <dsp:cNvPr id="0" name=""/>
        <dsp:cNvSpPr/>
      </dsp:nvSpPr>
      <dsp:spPr>
        <a:xfrm>
          <a:off x="4130764" y="1057275"/>
          <a:ext cx="1311094" cy="1409700"/>
        </a:xfrm>
        <a:prstGeom prst="roundRect">
          <a:avLst/>
        </a:prstGeom>
        <a:solidFill>
          <a:schemeClr val="accent3">
            <a:hueOff val="1355300"/>
            <a:satOff val="50000"/>
            <a:lumOff val="-7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Machine Learning Models</a:t>
          </a:r>
          <a:endParaRPr lang="en-IN" sz="1400" kern="1200" dirty="0"/>
        </a:p>
      </dsp:txBody>
      <dsp:txXfrm>
        <a:off x="4194766" y="1121277"/>
        <a:ext cx="1183090" cy="1281696"/>
      </dsp:txXfrm>
    </dsp:sp>
    <dsp:sp modelId="{FD1F3920-E03B-4ABC-9B89-E57366A8E60D}">
      <dsp:nvSpPr>
        <dsp:cNvPr id="0" name=""/>
        <dsp:cNvSpPr/>
      </dsp:nvSpPr>
      <dsp:spPr>
        <a:xfrm>
          <a:off x="5507413" y="1057275"/>
          <a:ext cx="1311094" cy="1409700"/>
        </a:xfrm>
        <a:prstGeom prst="roundRect">
          <a:avLst/>
        </a:prstGeom>
        <a:solidFill>
          <a:schemeClr val="accent3">
            <a:hueOff val="1807066"/>
            <a:satOff val="66667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Forecast Results</a:t>
          </a:r>
          <a:endParaRPr lang="en-IN" sz="1400" kern="1200" dirty="0"/>
        </a:p>
      </dsp:txBody>
      <dsp:txXfrm>
        <a:off x="5571415" y="1121277"/>
        <a:ext cx="1183090" cy="1281696"/>
      </dsp:txXfrm>
    </dsp:sp>
    <dsp:sp modelId="{CAF80F82-85FD-44B5-B343-AA7057153B74}">
      <dsp:nvSpPr>
        <dsp:cNvPr id="0" name=""/>
        <dsp:cNvSpPr/>
      </dsp:nvSpPr>
      <dsp:spPr>
        <a:xfrm>
          <a:off x="6884062" y="1057275"/>
          <a:ext cx="1311094" cy="1409700"/>
        </a:xfrm>
        <a:prstGeom prst="roundRect">
          <a:avLst/>
        </a:prstGeom>
        <a:solidFill>
          <a:schemeClr val="accent3">
            <a:hueOff val="2258833"/>
            <a:satOff val="83333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Power BI Dashboard</a:t>
          </a:r>
          <a:endParaRPr lang="en-IN" sz="1400" kern="1200" dirty="0"/>
        </a:p>
      </dsp:txBody>
      <dsp:txXfrm>
        <a:off x="6948064" y="1121277"/>
        <a:ext cx="1183090" cy="1281696"/>
      </dsp:txXfrm>
    </dsp:sp>
    <dsp:sp modelId="{3DF86775-CE95-4003-BC8B-72417FC91F47}">
      <dsp:nvSpPr>
        <dsp:cNvPr id="0" name=""/>
        <dsp:cNvSpPr/>
      </dsp:nvSpPr>
      <dsp:spPr>
        <a:xfrm>
          <a:off x="8260711" y="1057275"/>
          <a:ext cx="1311094" cy="1409700"/>
        </a:xfrm>
        <a:prstGeom prst="roundRect">
          <a:avLst/>
        </a:prstGeom>
        <a:solidFill>
          <a:schemeClr val="accent3">
            <a:hueOff val="2710599"/>
            <a:satOff val="100000"/>
            <a:lumOff val="-1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Streamlit</a:t>
          </a:r>
          <a:r>
            <a:rPr lang="en-US" sz="1400" kern="1200" dirty="0"/>
            <a:t> Web Application</a:t>
          </a:r>
          <a:endParaRPr lang="en-IN" sz="1400" kern="1200" dirty="0"/>
        </a:p>
      </dsp:txBody>
      <dsp:txXfrm>
        <a:off x="8324713" y="1121277"/>
        <a:ext cx="1183090" cy="12816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C7EA9B-46D7-42AF-A095-E764DE1009B2}">
      <dsp:nvSpPr>
        <dsp:cNvPr id="0" name=""/>
        <dsp:cNvSpPr/>
      </dsp:nvSpPr>
      <dsp:spPr>
        <a:xfrm>
          <a:off x="0" y="332197"/>
          <a:ext cx="5876924" cy="1346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115" tIns="395732" rIns="45611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Used to  create interactive dashboards for visualizing sales trends, branch performance, product analysis and forecasting results.</a:t>
          </a:r>
          <a:endParaRPr lang="en-IN" sz="1900" kern="1200" dirty="0"/>
        </a:p>
      </dsp:txBody>
      <dsp:txXfrm>
        <a:off x="0" y="332197"/>
        <a:ext cx="5876924" cy="1346625"/>
      </dsp:txXfrm>
    </dsp:sp>
    <dsp:sp modelId="{EECF0329-A31A-4E27-A671-C1310889D6BC}">
      <dsp:nvSpPr>
        <dsp:cNvPr id="0" name=""/>
        <dsp:cNvSpPr/>
      </dsp:nvSpPr>
      <dsp:spPr>
        <a:xfrm>
          <a:off x="293846" y="78802"/>
          <a:ext cx="4113846" cy="5608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494" tIns="0" rIns="1554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Power BI</a:t>
          </a:r>
          <a:endParaRPr lang="en-IN" sz="1900" kern="1200" dirty="0"/>
        </a:p>
      </dsp:txBody>
      <dsp:txXfrm>
        <a:off x="321226" y="106182"/>
        <a:ext cx="4059086" cy="506120"/>
      </dsp:txXfrm>
    </dsp:sp>
    <dsp:sp modelId="{60ACAFB8-FF80-45CC-902D-B9AD208F8375}">
      <dsp:nvSpPr>
        <dsp:cNvPr id="0" name=""/>
        <dsp:cNvSpPr/>
      </dsp:nvSpPr>
      <dsp:spPr>
        <a:xfrm>
          <a:off x="0" y="2088907"/>
          <a:ext cx="5876924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676672"/>
              <a:satOff val="-5114"/>
              <a:lumOff val="-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115" tIns="395732" rIns="45611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Used to develop a web based interface that allows users to explore analytics system easily</a:t>
          </a:r>
          <a:endParaRPr lang="en-IN" sz="1900" kern="1200" dirty="0"/>
        </a:p>
      </dsp:txBody>
      <dsp:txXfrm>
        <a:off x="0" y="2088907"/>
        <a:ext cx="5876924" cy="1077300"/>
      </dsp:txXfrm>
    </dsp:sp>
    <dsp:sp modelId="{F3072EBB-F363-4E7B-9E2C-2DEC64DFFF3C}">
      <dsp:nvSpPr>
        <dsp:cNvPr id="0" name=""/>
        <dsp:cNvSpPr/>
      </dsp:nvSpPr>
      <dsp:spPr>
        <a:xfrm>
          <a:off x="293846" y="1808467"/>
          <a:ext cx="4113846" cy="560880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494" tIns="0" rIns="1554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Streamlit</a:t>
          </a:r>
          <a:endParaRPr lang="en-IN" sz="1900" kern="1200" dirty="0"/>
        </a:p>
      </dsp:txBody>
      <dsp:txXfrm>
        <a:off x="321226" y="1835847"/>
        <a:ext cx="4059086" cy="506120"/>
      </dsp:txXfrm>
    </dsp:sp>
    <dsp:sp modelId="{0DC7555B-7AA4-4D92-AD9B-472327EC2CA1}">
      <dsp:nvSpPr>
        <dsp:cNvPr id="0" name=""/>
        <dsp:cNvSpPr/>
      </dsp:nvSpPr>
      <dsp:spPr>
        <a:xfrm>
          <a:off x="0" y="3549247"/>
          <a:ext cx="5876924" cy="1077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7353344"/>
              <a:satOff val="-10228"/>
              <a:lumOff val="-3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6115" tIns="395732" rIns="456115" bIns="135128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/>
            <a:t>Charts such as bar charts, line charts, and pie charts were used to present insights clearly</a:t>
          </a:r>
          <a:endParaRPr lang="en-IN" sz="1900" kern="1200" dirty="0"/>
        </a:p>
      </dsp:txBody>
      <dsp:txXfrm>
        <a:off x="0" y="3549247"/>
        <a:ext cx="5876924" cy="1077300"/>
      </dsp:txXfrm>
    </dsp:sp>
    <dsp:sp modelId="{5442F3B9-E0E2-44ED-80E1-B5868179B66E}">
      <dsp:nvSpPr>
        <dsp:cNvPr id="0" name=""/>
        <dsp:cNvSpPr/>
      </dsp:nvSpPr>
      <dsp:spPr>
        <a:xfrm>
          <a:off x="293846" y="3268807"/>
          <a:ext cx="4113846" cy="560880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5494" tIns="0" rIns="155494" bIns="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Visualization Charts</a:t>
          </a:r>
          <a:endParaRPr lang="en-IN" sz="1900" kern="1200" dirty="0"/>
        </a:p>
      </dsp:txBody>
      <dsp:txXfrm>
        <a:off x="321226" y="3296187"/>
        <a:ext cx="4059086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985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5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0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1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5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5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56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7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5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9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6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2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6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67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68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7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34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4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62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18B892-A4A7-4064-8CB0-6723DC7C5222}" type="datetimeFigureOut">
              <a:rPr lang="en-IN" smtClean="0"/>
              <a:t>13-03-2026</a:t>
            </a:fld>
            <a:endParaRPr lang="en-IN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C75EB2-2BAA-4405-BB5F-D017141A70FE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5.jpeg"/><Relationship Id="rId7" Type="http://schemas.openxmlformats.org/officeDocument/2006/relationships/diagramColors" Target="../diagrams/colors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&amp; Technology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Subtitle 2"/>
          <p:cNvSpPr>
            <a:spLocks noGrp="1"/>
          </p:cNvSpPr>
          <p:nvPr>
            <p:ph type="subTitle" idx="1"/>
          </p:nvPr>
        </p:nvSpPr>
        <p:spPr>
          <a:xfrm>
            <a:off x="212271" y="906235"/>
            <a:ext cx="11919858" cy="5821135"/>
          </a:xfrm>
        </p:spPr>
        <p:txBody>
          <a:bodyPr>
            <a:normAutofit fontScale="92500" lnSpcReduction="20000"/>
          </a:bodyPr>
          <a:lstStyle/>
          <a:p>
            <a:endParaRPr lang="en-US" sz="4400" dirty="0"/>
          </a:p>
          <a:p>
            <a:endParaRPr lang="en-US" sz="4400" dirty="0"/>
          </a:p>
          <a:p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 (Data Science)</a:t>
            </a:r>
          </a:p>
          <a:p>
            <a:pPr>
              <a:lnSpc>
                <a:spcPct val="12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(2025-26)</a:t>
            </a:r>
          </a:p>
          <a:p>
            <a:r>
              <a:rPr lang="en-US" sz="3200" dirty="0"/>
              <a:t>Capstone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</a:t>
            </a:r>
            <a:r>
              <a:rPr lang="en-US" altLang="en-GB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(ACSE0859)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on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3200" b="1" dirty="0">
                <a:solidFill>
                  <a:srgbClr val="FF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Sales Data Analysis &amp; Forecasting Dashboard</a:t>
            </a:r>
            <a:r>
              <a:rPr lang="en-US" altLang="en-GB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800" dirty="0"/>
          </a:p>
          <a:p>
            <a:pPr algn="l"/>
            <a:r>
              <a:rPr lang="en-US" sz="2800" b="1" dirty="0">
                <a:solidFill>
                  <a:srgbClr val="FF0000"/>
                </a:solidFill>
              </a:rPr>
              <a:t>Project Guide: Ms. Garima Dhawan</a:t>
            </a:r>
            <a:r>
              <a:rPr lang="en-US" altLang="en-GB" sz="2800" b="1" dirty="0">
                <a:solidFill>
                  <a:srgbClr val="FF0000"/>
                </a:solidFill>
              </a:rPr>
              <a:t>      </a:t>
            </a:r>
            <a:r>
              <a:rPr lang="en-US" sz="2800" b="1" dirty="0">
                <a:solidFill>
                  <a:srgbClr val="FF0000"/>
                </a:solidFill>
              </a:rPr>
              <a:t>Submitted To:              </a:t>
            </a:r>
            <a:r>
              <a:rPr lang="en-US" sz="2800" b="1" dirty="0" err="1">
                <a:solidFill>
                  <a:srgbClr val="FF0000"/>
                </a:solidFill>
              </a:rPr>
              <a:t>Member:Barkha</a:t>
            </a:r>
            <a:r>
              <a:rPr lang="en-US" sz="2800" b="1" dirty="0">
                <a:solidFill>
                  <a:srgbClr val="FF0000"/>
                </a:solidFill>
              </a:rPr>
              <a:t> Jha</a:t>
            </a:r>
          </a:p>
          <a:p>
            <a:pPr algn="l"/>
            <a:r>
              <a:rPr lang="en-US" sz="2800" dirty="0"/>
              <a:t>										</a:t>
            </a:r>
          </a:p>
          <a:p>
            <a:pPr algn="l"/>
            <a:endParaRPr lang="en-US" sz="2800" dirty="0"/>
          </a:p>
        </p:txBody>
      </p:sp>
      <p:pic>
        <p:nvPicPr>
          <p:cNvPr id="2097152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35823" y="742677"/>
            <a:ext cx="3113935" cy="12727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Topic of Project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Problem Statement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Literature Review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Introduction (In detail)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Model (Diagram/ Design)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Implementation</a:t>
            </a:r>
          </a:p>
          <a:p>
            <a:pPr algn="l"/>
            <a:r>
              <a:rPr lang="en-US" sz="3200" dirty="0"/>
              <a:t>                   - Frontend technologies Used</a:t>
            </a:r>
          </a:p>
          <a:p>
            <a:pPr algn="l"/>
            <a:r>
              <a:rPr lang="en-US" sz="3200" dirty="0"/>
              <a:t>                   - Backend Technologies Used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AI-tech (How AI will benefit this project , if any)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Monetization Policy (if any)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200" dirty="0"/>
              <a:t>Future Scope</a:t>
            </a:r>
          </a:p>
          <a:p>
            <a:pPr algn="l"/>
            <a:endParaRPr lang="en-US" sz="44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86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>
            <a:off x="212273" y="1447800"/>
            <a:ext cx="6350452" cy="4057650"/>
          </a:xfrm>
        </p:spPr>
        <p:txBody>
          <a:bodyPr>
            <a:normAutofit/>
          </a:bodyPr>
          <a:lstStyle/>
          <a:p>
            <a:r>
              <a:rPr lang="en-US" dirty="0"/>
              <a:t>Retail businesses generate huge amounts of sales data every day.</a:t>
            </a:r>
            <a:br>
              <a:rPr lang="en-US" dirty="0"/>
            </a:br>
            <a:r>
              <a:rPr lang="en-US" dirty="0"/>
              <a:t>However, many companies struggle to extract useful insights from this data.</a:t>
            </a:r>
          </a:p>
          <a:p>
            <a:r>
              <a:rPr lang="en-US" dirty="0"/>
              <a:t>Some common problems include:</a:t>
            </a:r>
          </a:p>
          <a:p>
            <a:r>
              <a:rPr lang="en-US" dirty="0"/>
              <a:t>• Difficulty analyzing sales trends</a:t>
            </a:r>
            <a:br>
              <a:rPr lang="en-US" dirty="0"/>
            </a:br>
            <a:r>
              <a:rPr lang="en-US" dirty="0"/>
              <a:t>• Identifying best-performing products</a:t>
            </a:r>
            <a:br>
              <a:rPr lang="en-US" dirty="0"/>
            </a:br>
            <a:r>
              <a:rPr lang="en-US" dirty="0"/>
              <a:t>• Understanding customer purchasing behavior</a:t>
            </a:r>
            <a:br>
              <a:rPr lang="en-US" dirty="0"/>
            </a:br>
            <a:r>
              <a:rPr lang="en-US" dirty="0"/>
              <a:t>• Predicting future sales demand</a:t>
            </a:r>
          </a:p>
          <a:p>
            <a:pPr algn="l"/>
            <a:endParaRPr lang="en-US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pic>
        <p:nvPicPr>
          <p:cNvPr id="1026" name="Picture 2" descr="https://images.openai.com/static-rsc-3/x0hnIotcm6R28HJoJcRMcL5kPfqHHVpNlfoIxUyC1L8Z8yj7ShZIGk1NX8apOzHcApEuQYKWwckn_sohR8Git7jYoFKya71gIG_Riy_6ZAk?purpose=fullsize&amp;v=1">
            <a:extLst>
              <a:ext uri="{FF2B5EF4-FFF2-40B4-BE49-F238E27FC236}">
                <a16:creationId xmlns:a16="http://schemas.microsoft.com/office/drawing/2014/main" id="{4BDE6355-98F2-4B7F-8EC2-8D72A57F8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16" t="19468" r="5100" b="21223"/>
          <a:stretch/>
        </p:blipFill>
        <p:spPr bwMode="auto">
          <a:xfrm>
            <a:off x="6686550" y="952500"/>
            <a:ext cx="5505450" cy="4791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811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9" name="Subtitle 2"/>
          <p:cNvSpPr>
            <a:spLocks noGrp="1"/>
          </p:cNvSpPr>
          <p:nvPr>
            <p:ph type="subTitle" idx="1"/>
          </p:nvPr>
        </p:nvSpPr>
        <p:spPr>
          <a:xfrm>
            <a:off x="212273" y="1447800"/>
            <a:ext cx="10141402" cy="4438650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3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CEEDD8-D691-4B09-A54A-42373CC0FE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2318702"/>
              </p:ext>
            </p:extLst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40652018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595331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78491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49318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Sr.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Author /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Technique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Key Contribution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0147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Smith et al. (2020)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ARIMA Model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Used time series forecasting to predict retail sales trends.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026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Brown et al. (2021)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Linear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Applied machine learning for demand prediction in retail datasets.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059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Lee et al.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Data Analytics &amp; Dashboards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Developed visualization dashboards to analyze retail sales performance.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318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Kumar et al. 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Machine Learning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predictive analytics to improve inventory and sales planning.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358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790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sp>
        <p:nvSpPr>
          <p:cNvPr id="1048595" name="Rectangle 3"/>
          <p:cNvSpPr/>
          <p:nvPr/>
        </p:nvSpPr>
        <p:spPr>
          <a:xfrm>
            <a:off x="484909" y="1068232"/>
            <a:ext cx="7106516" cy="5676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businesses generate a large amount of transactional data from daily sales activities. Analyzing this data helps organizations understand sales patterns, customer preferences, and product demand.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advancement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machine learning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businesses can extract valuable insights from raw data and make informed decisions.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Walmart retail sales dataset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trends in sales performance, customer behavior, and product demand.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machine learning techniques are applied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future sales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helps businesses improve inventory management, marketing strategies, and revenue planning.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j-lt"/>
            </a:endParaRPr>
          </a:p>
        </p:txBody>
      </p:sp>
      <p:pic>
        <p:nvPicPr>
          <p:cNvPr id="3074" name="Picture 2" descr="https://images.openai.com/static-rsc-3/pCfINVetSkMigituFCLG-ae-fWFfgGdeD5s4gxDykDJtydIytz17yLFxoYD5KFcHvNbBKCPNaNpWzHoAP1zr6dAtZMic79Tv6m8bvDsKP0M?purpose=fullsize&amp;v=1">
            <a:extLst>
              <a:ext uri="{FF2B5EF4-FFF2-40B4-BE49-F238E27FC236}">
                <a16:creationId xmlns:a16="http://schemas.microsoft.com/office/drawing/2014/main" id="{08105B11-11A9-42E9-9238-163BBAF40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5" y="977284"/>
            <a:ext cx="4086225" cy="544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252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DESIGN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dirty="0"/>
              <a:t>The proposed system analyzes Walmart sales data using data analytics and machine learning techniques.</a:t>
            </a:r>
            <a:br>
              <a:rPr lang="en-US" dirty="0"/>
            </a:br>
            <a:r>
              <a:rPr lang="en-US" dirty="0"/>
              <a:t>The system processes raw sales data, performs analysis, applies forecasting models, and visualizes results using dashboards. Walmart Sales Dataset</a:t>
            </a:r>
          </a:p>
        </p:txBody>
      </p:sp>
      <p:pic>
        <p:nvPicPr>
          <p:cNvPr id="209715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2E04CC5-B3FF-43D3-AE76-CD1E261A44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7749559"/>
              </p:ext>
            </p:extLst>
          </p:nvPr>
        </p:nvGraphicFramePr>
        <p:xfrm>
          <a:off x="1009651" y="3124199"/>
          <a:ext cx="9572624" cy="3524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DESIGN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1️⃣ Data Collection</a:t>
            </a:r>
            <a:br>
              <a:rPr lang="en-US" dirty="0"/>
            </a:br>
            <a:r>
              <a:rPr lang="en-US" dirty="0"/>
              <a:t>The Walmart sales dataset containing transaction details such as product line, quantity, payment method, and sales value was used.</a:t>
            </a:r>
          </a:p>
          <a:p>
            <a:pPr algn="l"/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2️⃣ Data Preprocessing</a:t>
            </a:r>
            <a:br>
              <a:rPr lang="en-US" dirty="0"/>
            </a:br>
            <a:r>
              <a:rPr lang="en-US" dirty="0"/>
              <a:t>The dataset was cleaned by checking for missing values, removing duplicates, and converting date and time fields into appropriate formats.</a:t>
            </a:r>
          </a:p>
          <a:p>
            <a:pPr algn="l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3️⃣ Feature Engineering</a:t>
            </a:r>
            <a:br>
              <a:rPr lang="en-US" dirty="0"/>
            </a:br>
            <a:r>
              <a:rPr lang="en-US" dirty="0"/>
              <a:t>Additional features such as </a:t>
            </a:r>
            <a:r>
              <a:rPr lang="en-US" b="1" dirty="0"/>
              <a:t>Month, Day, and Hour</a:t>
            </a:r>
            <a:r>
              <a:rPr lang="en-US" dirty="0"/>
              <a:t> were created from the date and time columns to analyze time-based sales patterns.</a:t>
            </a:r>
          </a:p>
          <a:p>
            <a:pPr algn="l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4️⃣ Exploratory Data Analysis (EDA)</a:t>
            </a:r>
            <a:br>
              <a:rPr lang="en-US" dirty="0"/>
            </a:br>
            <a:r>
              <a:rPr lang="en-US" dirty="0"/>
              <a:t>Statistical analysis and visualizations were performed to understand sales trends, customer behavior, and product performance.</a:t>
            </a:r>
          </a:p>
          <a:p>
            <a:pPr algn="l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5️⃣ Machine Learning Forecasting</a:t>
            </a:r>
            <a:br>
              <a:rPr lang="en-US" dirty="0"/>
            </a:br>
            <a:r>
              <a:rPr lang="en-US" dirty="0" err="1"/>
              <a:t>Forecasting</a:t>
            </a:r>
            <a:r>
              <a:rPr lang="en-US" dirty="0"/>
              <a:t> models such as </a:t>
            </a:r>
            <a:r>
              <a:rPr lang="en-US" b="1" dirty="0"/>
              <a:t>ARIMA and Linear Regression</a:t>
            </a:r>
            <a:r>
              <a:rPr lang="en-US" dirty="0"/>
              <a:t> were implemented to predict future sales trends.</a:t>
            </a:r>
          </a:p>
          <a:p>
            <a:pPr algn="l"/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6️⃣ Dashboard Development</a:t>
            </a:r>
            <a:br>
              <a:rPr lang="en-US" dirty="0"/>
            </a:br>
            <a:r>
              <a:rPr lang="en-US" dirty="0"/>
              <a:t>An interactive </a:t>
            </a:r>
            <a:r>
              <a:rPr lang="en-US" b="1" dirty="0"/>
              <a:t>Power BI dashboard</a:t>
            </a:r>
            <a:r>
              <a:rPr lang="en-US" dirty="0"/>
              <a:t> was created to visualize key insights and performance metrics.</a:t>
            </a:r>
          </a:p>
          <a:p>
            <a:pPr algn="l"/>
            <a:r>
              <a:rPr lang="en-US" b="1" dirty="0"/>
              <a:t>7️⃣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Web Application Deployment</a:t>
            </a:r>
            <a:br>
              <a:rPr lang="en-US" dirty="0"/>
            </a:br>
            <a:r>
              <a:rPr lang="en-US" dirty="0"/>
              <a:t>The analytics system was deployed using a </a:t>
            </a:r>
            <a:r>
              <a:rPr lang="en-US" b="1" dirty="0" err="1"/>
              <a:t>Streamlit</a:t>
            </a:r>
            <a:r>
              <a:rPr lang="en-US" b="1" dirty="0"/>
              <a:t> web application</a:t>
            </a:r>
            <a:r>
              <a:rPr lang="en-US" dirty="0"/>
              <a:t> for easy access and presentation.</a:t>
            </a:r>
          </a:p>
          <a:p>
            <a:pPr algn="l"/>
            <a:endParaRPr lang="en-US" dirty="0"/>
          </a:p>
        </p:txBody>
      </p:sp>
      <p:pic>
        <p:nvPicPr>
          <p:cNvPr id="209715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99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Technology Used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5381625" y="1704975"/>
            <a:ext cx="6750504" cy="4495800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209715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pic>
        <p:nvPicPr>
          <p:cNvPr id="5126" name="Picture 6" descr="https://images.openai.com/static-rsc-3/-EYF-ddR-6fp8Wjq3pXiUuWMDAD7y9eXc2QjtU5D7tJbZcsA75jXA8stFs5AXL0IdRCLExaG1d_ckrPAXeUJ680N02NNmwP_gJSEvkSGJNc?purpose=fullsize&amp;v=1">
            <a:extLst>
              <a:ext uri="{FF2B5EF4-FFF2-40B4-BE49-F238E27FC236}">
                <a16:creationId xmlns:a16="http://schemas.microsoft.com/office/drawing/2014/main" id="{F8E66E3E-F8CF-4FCB-B67D-70AB82558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25" y="1283516"/>
            <a:ext cx="46513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B3DCA6D-E2FF-4FB1-8DFE-C660E482E7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4392542"/>
              </p:ext>
            </p:extLst>
          </p:nvPr>
        </p:nvGraphicFramePr>
        <p:xfrm>
          <a:off x="5210176" y="1409701"/>
          <a:ext cx="5876924" cy="4705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541773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Technology Used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4" name="Subtitle 2"/>
          <p:cNvSpPr>
            <a:spLocks noGrp="1"/>
          </p:cNvSpPr>
          <p:nvPr>
            <p:ph type="subTitle" idx="1"/>
          </p:nvPr>
        </p:nvSpPr>
        <p:spPr>
          <a:xfrm>
            <a:off x="3157538" y="1323975"/>
            <a:ext cx="8974591" cy="4876800"/>
          </a:xfrm>
        </p:spPr>
        <p:txBody>
          <a:bodyPr>
            <a:normAutofit/>
          </a:bodyPr>
          <a:lstStyle/>
          <a:p>
            <a:pPr algn="l"/>
            <a:endParaRPr lang="en-US" dirty="0"/>
          </a:p>
        </p:txBody>
      </p:sp>
      <p:pic>
        <p:nvPicPr>
          <p:cNvPr id="209715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B0E95F97-87AB-464A-9019-D77EE1399444}"/>
              </a:ext>
            </a:extLst>
          </p:cNvPr>
          <p:cNvGrpSpPr/>
          <p:nvPr/>
        </p:nvGrpSpPr>
        <p:grpSpPr>
          <a:xfrm>
            <a:off x="3157538" y="1408522"/>
            <a:ext cx="5876924" cy="1346625"/>
            <a:chOff x="0" y="332197"/>
            <a:chExt cx="5876924" cy="134662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84D5F5-FF73-462F-A785-9F52BBA2D083}"/>
                </a:ext>
              </a:extLst>
            </p:cNvPr>
            <p:cNvSpPr/>
            <p:nvPr/>
          </p:nvSpPr>
          <p:spPr>
            <a:xfrm>
              <a:off x="0" y="332197"/>
              <a:ext cx="5876924" cy="1346625"/>
            </a:xfrm>
            <a:prstGeom prst="rect">
              <a:avLst/>
            </a:prstGeom>
          </p:spPr>
          <p:style>
            <a:lnRef idx="2">
              <a:schemeClr val="accent5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9E28323-3EB3-4A77-93C0-DC5A73474BB4}"/>
                </a:ext>
              </a:extLst>
            </p:cNvPr>
            <p:cNvSpPr txBox="1"/>
            <p:nvPr/>
          </p:nvSpPr>
          <p:spPr>
            <a:xfrm>
              <a:off x="0" y="332197"/>
              <a:ext cx="5876924" cy="134662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6115" tIns="395732" rIns="456115" bIns="135128" numCol="1" spcCol="1270" anchor="t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900" kern="1200" dirty="0"/>
                <a:t>Used as the primary programming language for data processing and machine learning implementation</a:t>
              </a:r>
              <a:endParaRPr lang="en-IN" sz="19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FB2A453-3847-4107-AECE-2B73377E3AE4}"/>
              </a:ext>
            </a:extLst>
          </p:cNvPr>
          <p:cNvGrpSpPr/>
          <p:nvPr/>
        </p:nvGrpSpPr>
        <p:grpSpPr>
          <a:xfrm>
            <a:off x="3451384" y="1155127"/>
            <a:ext cx="4113846" cy="560880"/>
            <a:chOff x="293846" y="78802"/>
            <a:chExt cx="4113846" cy="56088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968911A1-71D5-4158-9A1C-3E450B7A13BC}"/>
                </a:ext>
              </a:extLst>
            </p:cNvPr>
            <p:cNvSpPr/>
            <p:nvPr/>
          </p:nvSpPr>
          <p:spPr>
            <a:xfrm>
              <a:off x="293846" y="78802"/>
              <a:ext cx="4113846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Rectangle: Rounded Corners 6">
              <a:extLst>
                <a:ext uri="{FF2B5EF4-FFF2-40B4-BE49-F238E27FC236}">
                  <a16:creationId xmlns:a16="http://schemas.microsoft.com/office/drawing/2014/main" id="{D6B33C3E-CAFA-4469-8809-91624059E809}"/>
                </a:ext>
              </a:extLst>
            </p:cNvPr>
            <p:cNvSpPr txBox="1"/>
            <p:nvPr/>
          </p:nvSpPr>
          <p:spPr>
            <a:xfrm>
              <a:off x="321226" y="106182"/>
              <a:ext cx="4059086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5494" tIns="0" rIns="155494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Python</a:t>
              </a:r>
              <a:endParaRPr lang="en-IN" sz="1900" kern="1200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A6CA748-68FA-42CC-B36E-FB9E9D4F1EDD}"/>
              </a:ext>
            </a:extLst>
          </p:cNvPr>
          <p:cNvGrpSpPr/>
          <p:nvPr/>
        </p:nvGrpSpPr>
        <p:grpSpPr>
          <a:xfrm>
            <a:off x="3157538" y="3165232"/>
            <a:ext cx="5876924" cy="1077300"/>
            <a:chOff x="0" y="2088907"/>
            <a:chExt cx="5876924" cy="10773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77D33E5-71BA-4774-8D6F-63FCED05506B}"/>
                </a:ext>
              </a:extLst>
            </p:cNvPr>
            <p:cNvSpPr/>
            <p:nvPr/>
          </p:nvSpPr>
          <p:spPr>
            <a:xfrm>
              <a:off x="0" y="2088907"/>
              <a:ext cx="5876924" cy="1077300"/>
            </a:xfrm>
            <a:prstGeom prst="rect">
              <a:avLst/>
            </a:prstGeom>
          </p:spPr>
          <p:style>
            <a:lnRef idx="2">
              <a:schemeClr val="accent5">
                <a:hueOff val="-3676672"/>
                <a:satOff val="-5114"/>
                <a:lumOff val="-1961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AF0212F-B5B9-46BD-BDBE-942F8A56E811}"/>
                </a:ext>
              </a:extLst>
            </p:cNvPr>
            <p:cNvSpPr txBox="1"/>
            <p:nvPr/>
          </p:nvSpPr>
          <p:spPr>
            <a:xfrm>
              <a:off x="0" y="2088907"/>
              <a:ext cx="5876924" cy="10773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6115" tIns="395732" rIns="456115" bIns="135128" numCol="1" spcCol="1270" anchor="t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900" kern="1200" dirty="0"/>
                <a:t>Used </a:t>
              </a:r>
              <a:r>
                <a:rPr lang="en-US" sz="1900" dirty="0"/>
                <a:t>for data manipulation, cleaning and preprocessing of Walmart sales dataset.</a:t>
              </a:r>
              <a:endParaRPr lang="en-IN" sz="1900" kern="1200" dirty="0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7FDC314-0073-48D3-90E9-160D0AA9D8E7}"/>
              </a:ext>
            </a:extLst>
          </p:cNvPr>
          <p:cNvGrpSpPr/>
          <p:nvPr/>
        </p:nvGrpSpPr>
        <p:grpSpPr>
          <a:xfrm>
            <a:off x="3451384" y="2884792"/>
            <a:ext cx="4113846" cy="560880"/>
            <a:chOff x="293846" y="1808467"/>
            <a:chExt cx="4113846" cy="56088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BBE5B1F-1B55-43A1-9972-D6A45C42DE4A}"/>
                </a:ext>
              </a:extLst>
            </p:cNvPr>
            <p:cNvSpPr/>
            <p:nvPr/>
          </p:nvSpPr>
          <p:spPr>
            <a:xfrm>
              <a:off x="293846" y="1808467"/>
              <a:ext cx="4113846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3676672"/>
                <a:satOff val="-5114"/>
                <a:lumOff val="-1961"/>
                <a:alphaOff val="0"/>
              </a:schemeClr>
            </a:fillRef>
            <a:effectRef idx="0">
              <a:schemeClr val="accent5">
                <a:hueOff val="-3676672"/>
                <a:satOff val="-5114"/>
                <a:lumOff val="-1961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8" name="Rectangle: Rounded Corners 10">
              <a:extLst>
                <a:ext uri="{FF2B5EF4-FFF2-40B4-BE49-F238E27FC236}">
                  <a16:creationId xmlns:a16="http://schemas.microsoft.com/office/drawing/2014/main" id="{BA7E3E97-A55D-4413-B315-54BAD85C43C4}"/>
                </a:ext>
              </a:extLst>
            </p:cNvPr>
            <p:cNvSpPr txBox="1"/>
            <p:nvPr/>
          </p:nvSpPr>
          <p:spPr>
            <a:xfrm>
              <a:off x="321226" y="1835847"/>
              <a:ext cx="4059086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5494" tIns="0" rIns="155494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Pandas</a:t>
              </a:r>
              <a:endParaRPr lang="en-IN" sz="1900" kern="12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868BC6-E789-4AF4-BE2D-261909F79303}"/>
              </a:ext>
            </a:extLst>
          </p:cNvPr>
          <p:cNvGrpSpPr/>
          <p:nvPr/>
        </p:nvGrpSpPr>
        <p:grpSpPr>
          <a:xfrm>
            <a:off x="3157538" y="4625572"/>
            <a:ext cx="5876924" cy="1077300"/>
            <a:chOff x="0" y="3549247"/>
            <a:chExt cx="5876924" cy="10773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A8F070-D4ED-4B10-969D-CCB5A574F99D}"/>
                </a:ext>
              </a:extLst>
            </p:cNvPr>
            <p:cNvSpPr/>
            <p:nvPr/>
          </p:nvSpPr>
          <p:spPr>
            <a:xfrm>
              <a:off x="0" y="3549247"/>
              <a:ext cx="5876924" cy="1077300"/>
            </a:xfrm>
            <a:prstGeom prst="rect">
              <a:avLst/>
            </a:prstGeom>
          </p:spPr>
          <p:style>
            <a:lnRef idx="2">
              <a:schemeClr val="accent5">
                <a:hueOff val="-7353344"/>
                <a:satOff val="-10228"/>
                <a:lumOff val="-3922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4F4D57E-0EC8-4A7E-B352-F1C5EC677FF8}"/>
                </a:ext>
              </a:extLst>
            </p:cNvPr>
            <p:cNvSpPr txBox="1"/>
            <p:nvPr/>
          </p:nvSpPr>
          <p:spPr>
            <a:xfrm>
              <a:off x="0" y="3549247"/>
              <a:ext cx="5876924" cy="10773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6115" tIns="395732" rIns="456115" bIns="135128" numCol="1" spcCol="1270" anchor="t" anchorCtr="0">
              <a:noAutofit/>
            </a:bodyPr>
            <a:lstStyle/>
            <a:p>
              <a:pPr marL="171450" lvl="1" indent="-171450" algn="l" defTabSz="844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en-US" sz="1900" kern="1200" dirty="0"/>
                <a:t>Charts such as bar charts, line charts, and pie charts were used to present insights clearly</a:t>
              </a:r>
              <a:endParaRPr lang="en-IN" sz="19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B8DFD4-A9ED-4442-B1E8-D9B3F21FE0AA}"/>
              </a:ext>
            </a:extLst>
          </p:cNvPr>
          <p:cNvGrpSpPr/>
          <p:nvPr/>
        </p:nvGrpSpPr>
        <p:grpSpPr>
          <a:xfrm>
            <a:off x="3451384" y="4345132"/>
            <a:ext cx="4113846" cy="560880"/>
            <a:chOff x="293846" y="3268807"/>
            <a:chExt cx="4113846" cy="56088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6F0F43E-57A1-40F3-8E97-60596A27BE43}"/>
                </a:ext>
              </a:extLst>
            </p:cNvPr>
            <p:cNvSpPr/>
            <p:nvPr/>
          </p:nvSpPr>
          <p:spPr>
            <a:xfrm>
              <a:off x="293846" y="3268807"/>
              <a:ext cx="4113846" cy="56088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-7353344"/>
                <a:satOff val="-10228"/>
                <a:lumOff val="-3922"/>
                <a:alphaOff val="0"/>
              </a:schemeClr>
            </a:fillRef>
            <a:effectRef idx="0">
              <a:schemeClr val="accent5">
                <a:hueOff val="-7353344"/>
                <a:satOff val="-10228"/>
                <a:lumOff val="-3922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14">
              <a:extLst>
                <a:ext uri="{FF2B5EF4-FFF2-40B4-BE49-F238E27FC236}">
                  <a16:creationId xmlns:a16="http://schemas.microsoft.com/office/drawing/2014/main" id="{F7AB2C7A-0D98-4C69-9264-040EF0BE9CC6}"/>
                </a:ext>
              </a:extLst>
            </p:cNvPr>
            <p:cNvSpPr txBox="1"/>
            <p:nvPr/>
          </p:nvSpPr>
          <p:spPr>
            <a:xfrm>
              <a:off x="321226" y="3296187"/>
              <a:ext cx="4059086" cy="506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5494" tIns="0" rIns="155494" bIns="0" numCol="1" spcCol="1270" anchor="ctr" anchorCtr="0">
              <a:noAutofit/>
            </a:bodyPr>
            <a:lstStyle/>
            <a:p>
              <a:pPr marL="0" lvl="0" indent="0" algn="l" defTabSz="8445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kern="1200" dirty="0"/>
                <a:t>Matplotlib</a:t>
              </a:r>
              <a:endParaRPr lang="en-IN" sz="19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38878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1156D-9033-4D66-A92A-E1E1B5501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1B7C3-A2D7-4182-BC65-7439069A8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1A397-2F2E-474E-9349-6EA9A0E0A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397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Technology Used</a:t>
            </a:r>
          </a:p>
        </p:txBody>
      </p:sp>
      <p:sp>
        <p:nvSpPr>
          <p:cNvPr id="1048600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8030581" cy="5443854"/>
          </a:xfrm>
        </p:spPr>
        <p:txBody>
          <a:bodyPr>
            <a:normAutofit/>
          </a:bodyPr>
          <a:lstStyle/>
          <a:p>
            <a:r>
              <a:rPr lang="en-US" sz="3000" dirty="0"/>
              <a:t>In this project, machine learning techniques are used to analyze historical sales data and forecast future revenue.</a:t>
            </a:r>
          </a:p>
          <a:p>
            <a:r>
              <a:rPr lang="en-US" sz="3000" b="1" dirty="0"/>
              <a:t>AI techniques used in the project include:</a:t>
            </a:r>
            <a:endParaRPr lang="en-US" sz="3000" dirty="0"/>
          </a:p>
          <a:p>
            <a:r>
              <a:rPr lang="en-US" sz="3000" b="1" dirty="0"/>
              <a:t>• ARIMA Model (Time Series Forecasting)</a:t>
            </a:r>
            <a:br>
              <a:rPr lang="en-US" sz="3000" dirty="0"/>
            </a:br>
            <a:r>
              <a:rPr lang="en-US" sz="3000" dirty="0"/>
              <a:t>Used to analyze historical sales data and predict future sales trends.</a:t>
            </a:r>
          </a:p>
          <a:p>
            <a:r>
              <a:rPr lang="en-US" sz="3000" b="1" dirty="0"/>
              <a:t>• Linear Regression Model</a:t>
            </a:r>
            <a:br>
              <a:rPr lang="en-US" sz="3000" dirty="0"/>
            </a:br>
            <a:r>
              <a:rPr lang="en-US" sz="3000" dirty="0"/>
              <a:t>Used as a baseline machine learning model for predicting sales values</a:t>
            </a:r>
          </a:p>
          <a:p>
            <a:pPr algn="l"/>
            <a:endParaRPr lang="en-US" sz="36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7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pic>
        <p:nvPicPr>
          <p:cNvPr id="7174" name="Picture 6" descr="https://images.openai.com/static-rsc-3/BBsiYLj7o7T566x-Dw7Asu6ukM4nmU0saLGWYOlGkB3Ervx4miyb3TYk14vZAef1jrQD90y54zRXNYIdmGFGTF-2onBh_knD8xzRKkQxoI4?purpose=fullsize&amp;v=1">
            <a:extLst>
              <a:ext uri="{FF2B5EF4-FFF2-40B4-BE49-F238E27FC236}">
                <a16:creationId xmlns:a16="http://schemas.microsoft.com/office/drawing/2014/main" id="{94A6651F-D73C-441D-9AE8-0196A2250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6116" y="1428336"/>
            <a:ext cx="4001328" cy="4001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Monetization Policy</a:t>
            </a:r>
          </a:p>
        </p:txBody>
      </p:sp>
      <p:sp>
        <p:nvSpPr>
          <p:cNvPr id="1048602" name="Subtitle 2"/>
          <p:cNvSpPr>
            <a:spLocks noGrp="1"/>
          </p:cNvSpPr>
          <p:nvPr>
            <p:ph type="subTitle" idx="1"/>
          </p:nvPr>
        </p:nvSpPr>
        <p:spPr>
          <a:xfrm>
            <a:off x="4532479" y="1071481"/>
            <a:ext cx="7434233" cy="5509170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The proposed sales analytics system can generate revenue through several business models.</a:t>
            </a:r>
          </a:p>
          <a:p>
            <a:r>
              <a:rPr lang="en-US" sz="2800" b="1" dirty="0"/>
              <a:t>Possible monetization strategies include:</a:t>
            </a:r>
            <a:endParaRPr lang="en-US" sz="2800" dirty="0"/>
          </a:p>
          <a:p>
            <a:r>
              <a:rPr lang="en-US" sz="2800" b="1" dirty="0"/>
              <a:t>• Retail Analytics Service</a:t>
            </a:r>
            <a:br>
              <a:rPr lang="en-US" sz="2800" dirty="0"/>
            </a:br>
            <a:r>
              <a:rPr lang="en-US" sz="2800" dirty="0"/>
              <a:t>Providing sales analytics and forecasting solutions to retail companies.</a:t>
            </a:r>
          </a:p>
          <a:p>
            <a:r>
              <a:rPr lang="en-US" sz="2800" b="1" dirty="0"/>
              <a:t>• Subscription-Based Dashboard</a:t>
            </a:r>
            <a:br>
              <a:rPr lang="en-US" sz="2800" dirty="0"/>
            </a:br>
            <a:r>
              <a:rPr lang="en-US" sz="2800" dirty="0"/>
              <a:t>Businesses can subscribe to the analytics dashboard for continuous monitoring of sales performance.</a:t>
            </a:r>
          </a:p>
          <a:p>
            <a:r>
              <a:rPr lang="en-US" sz="2800" b="1" dirty="0"/>
              <a:t>• Inventory Optimization Solutions</a:t>
            </a:r>
            <a:br>
              <a:rPr lang="en-US" sz="2800" dirty="0"/>
            </a:br>
            <a:r>
              <a:rPr lang="en-US" sz="2800" dirty="0"/>
              <a:t>Companies can use forecasting results to optimize inventory management and reduce operational costs.</a:t>
            </a:r>
          </a:p>
          <a:p>
            <a:pPr algn="l"/>
            <a:endParaRPr lang="en-US" sz="28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8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sp>
        <p:nvSpPr>
          <p:cNvPr id="2" name="AutoShape 2" descr="https://www.transparencymarketresearch.com/images/bi-and-analytics-market.jpg">
            <a:extLst>
              <a:ext uri="{FF2B5EF4-FFF2-40B4-BE49-F238E27FC236}">
                <a16:creationId xmlns:a16="http://schemas.microsoft.com/office/drawing/2014/main" id="{2256DAA9-8A28-4BD0-8005-9CC416E2D81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222" name="Picture 6" descr="https://images.openai.com/static-rsc-3/3UNwtzvd5wkFlV9UtzL9h4FhU3OEq7dK7JrzaKHmzk_IPksd-cixJsPuh4HCY6YjCepJJ4Gka7BeQ83ZR-vZYYzAh-xhbl4oTdwORl87lBE?purpose=fullsize&amp;v=1">
            <a:extLst>
              <a:ext uri="{FF2B5EF4-FFF2-40B4-BE49-F238E27FC236}">
                <a16:creationId xmlns:a16="http://schemas.microsoft.com/office/drawing/2014/main" id="{5517183C-EF00-458B-A8FB-782D7AD06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15" y="1696278"/>
            <a:ext cx="4396563" cy="378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0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54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sp>
        <p:nvSpPr>
          <p:cNvPr id="1048592" name="Rectangle 3"/>
          <p:cNvSpPr/>
          <p:nvPr/>
        </p:nvSpPr>
        <p:spPr>
          <a:xfrm>
            <a:off x="484908" y="1068232"/>
            <a:ext cx="11374583" cy="5676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proposed system can be further improved in several ways: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</a:rPr>
              <a:t>Larger Datasets</a:t>
            </a:r>
            <a:b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Future work can include analyzing larger and real-time retail datasets to improve forecasting accuracy.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FFFF"/>
                </a:highlight>
              </a:rPr>
              <a:t>Advanced Machine Learning Models</a:t>
            </a:r>
            <a:b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Deep learning models such as LSTM (Long Short-Term Memory) can be implemented for more accurate time-series forecasting.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0000"/>
                </a:highlight>
              </a:rPr>
              <a:t>Real-Time Data Integration</a:t>
            </a:r>
            <a:b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Integration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with live sales databases can enable real-time analytics and monitoring.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Cloud-Based Deployment</a:t>
            </a:r>
            <a:b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system can be deployed on cloud platforms to allow scalable and remote access.</a:t>
            </a:r>
          </a:p>
          <a:p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•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008080"/>
                </a:highlight>
              </a:rPr>
              <a:t>Mobile Dashboard Applications</a:t>
            </a:r>
            <a:b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Developing mobile applications will allow business managers to monitor sales insights anytime and anywhere.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j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1048606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60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3F7927B-F903-433A-AA49-BD8AC9987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71" y="1410474"/>
            <a:ext cx="5550185" cy="41640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DD76A1-7108-4C88-8080-5F3B8F45B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271" y="1410473"/>
            <a:ext cx="5701886" cy="416400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1048608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61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EA5327-24AA-466E-87F4-13E2CD356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271" y="1410474"/>
            <a:ext cx="5600988" cy="449999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E55AB7-F41F-49F2-B944-2CF815563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56557"/>
            <a:ext cx="5664491" cy="47539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5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</p:txBody>
      </p:sp>
      <p:sp>
        <p:nvSpPr>
          <p:cNvPr id="1048616" name="Subtitle 2"/>
          <p:cNvSpPr>
            <a:spLocks noGrp="1"/>
          </p:cNvSpPr>
          <p:nvPr>
            <p:ph type="subTitle" idx="1"/>
          </p:nvPr>
        </p:nvSpPr>
        <p:spPr>
          <a:xfrm>
            <a:off x="238775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pPr algn="l"/>
            <a:endParaRPr lang="en-US" sz="44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4400" dirty="0"/>
          </a:p>
        </p:txBody>
      </p:sp>
      <p:pic>
        <p:nvPicPr>
          <p:cNvPr id="209716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2C9CB4B-B3B4-4AF8-B307-2B1C57344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" y="996868"/>
            <a:ext cx="5550185" cy="44179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761FFF4-3D2F-4323-A76C-6532C56E4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069" y="1156557"/>
            <a:ext cx="5832618" cy="44179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ctrTitle"/>
          </p:nvPr>
        </p:nvSpPr>
        <p:spPr>
          <a:xfrm>
            <a:off x="0" y="65314"/>
            <a:ext cx="12192000" cy="677636"/>
          </a:xfrm>
          <a:solidFill>
            <a:srgbClr val="C00000"/>
          </a:solidFill>
        </p:spPr>
        <p:txBody>
          <a:bodyPr>
            <a:noAutofit/>
          </a:bodyPr>
          <a:lstStyle/>
          <a:p>
            <a:pPr algn="r"/>
            <a:r>
              <a:rPr lang="en-US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Noida institute of Engineering &amp; Technology</a:t>
            </a:r>
          </a:p>
        </p:txBody>
      </p:sp>
      <p:sp>
        <p:nvSpPr>
          <p:cNvPr id="1048618" name="Subtitle 2"/>
          <p:cNvSpPr>
            <a:spLocks noGrp="1"/>
          </p:cNvSpPr>
          <p:nvPr>
            <p:ph type="subTitle" idx="1"/>
          </p:nvPr>
        </p:nvSpPr>
        <p:spPr>
          <a:xfrm>
            <a:off x="212271" y="1283516"/>
            <a:ext cx="11919858" cy="5443854"/>
          </a:xfrm>
        </p:spPr>
        <p:txBody>
          <a:bodyPr>
            <a:normAutofit/>
          </a:bodyPr>
          <a:lstStyle/>
          <a:p>
            <a:pPr algn="l"/>
            <a:endParaRPr lang="en-US" sz="4400" dirty="0"/>
          </a:p>
          <a:p>
            <a:endParaRPr lang="en-US" sz="6000" b="1" dirty="0"/>
          </a:p>
          <a:p>
            <a:r>
              <a:rPr lang="en-US" sz="8800" b="1" dirty="0"/>
              <a:t>Thank you</a:t>
            </a:r>
          </a:p>
        </p:txBody>
      </p:sp>
      <p:pic>
        <p:nvPicPr>
          <p:cNvPr id="2097166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128263" cy="86990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975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Petrona Bold</vt:lpstr>
      <vt:lpstr>Times New Roman</vt:lpstr>
      <vt:lpstr>Office Theme</vt:lpstr>
      <vt:lpstr>Noida institute of Engineering &amp; Technology</vt:lpstr>
      <vt:lpstr>Presentation Outline</vt:lpstr>
      <vt:lpstr>Problem Statement</vt:lpstr>
      <vt:lpstr>Literature Review</vt:lpstr>
      <vt:lpstr>Introduction</vt:lpstr>
      <vt:lpstr>MODEL DESIGN</vt:lpstr>
      <vt:lpstr>MODEL DESIGN</vt:lpstr>
      <vt:lpstr>Frontend Technology Used</vt:lpstr>
      <vt:lpstr>Backend Technology Used</vt:lpstr>
      <vt:lpstr>PowerPoint Presentation</vt:lpstr>
      <vt:lpstr>AI Technology Used</vt:lpstr>
      <vt:lpstr>Monetization Policy</vt:lpstr>
      <vt:lpstr>Future Scope</vt:lpstr>
      <vt:lpstr>PROJECT</vt:lpstr>
      <vt:lpstr>PROJECT</vt:lpstr>
      <vt:lpstr>PROJECT</vt:lpstr>
      <vt:lpstr>Noida institute of Engineering &amp; Technology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Noida institute of Engineering &amp; Technology</dc:title>
  <dc:creator>Sandhya</dc:creator>
  <cp:lastModifiedBy>My</cp:lastModifiedBy>
  <cp:revision>22</cp:revision>
  <dcterms:created xsi:type="dcterms:W3CDTF">2024-04-15T10:59:00Z</dcterms:created>
  <dcterms:modified xsi:type="dcterms:W3CDTF">2026-03-13T17:53:59Z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96055cfaf8584cb5be9f6bebdc545574</vt:lpwstr>
  </property>
  <property fmtid="{D5CDD505-2E9C-101B-9397-08002B2CF9AE}" pid="3" name="KSOProductBuildVer">
    <vt:lpwstr>1033-12.2.0.16909</vt:lpwstr>
  </property>
</Properties>
</file>